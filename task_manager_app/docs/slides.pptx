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Montserrat SemiBold"/>
      <p:regular r:id="rId22"/>
      <p:bold r:id="rId23"/>
      <p:italic r:id="rId24"/>
      <p:boldItalic r:id="rId25"/>
    </p:embeddedFont>
    <p:embeddedFont>
      <p:font typeface="Montserrat"/>
      <p:regular r:id="rId26"/>
      <p:bold r:id="rId27"/>
      <p:italic r:id="rId28"/>
      <p:boldItalic r:id="rId29"/>
    </p:embeddedFont>
    <p:embeddedFont>
      <p:font typeface="Montserrat Medium"/>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j3DqMHyuC4f7j/xwgaEssWIyXed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Kyle Bluemel"/>
  <p:cmAuthor clrIdx="1" id="1" initials="" lastIdx="5" name="Osvaldo Salda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SemiBold-regular.fntdata"/><Relationship Id="rId21" Type="http://schemas.openxmlformats.org/officeDocument/2006/relationships/slide" Target="slides/slide16.xml"/><Relationship Id="rId24" Type="http://schemas.openxmlformats.org/officeDocument/2006/relationships/font" Target="fonts/MontserratSemiBold-italic.fntdata"/><Relationship Id="rId23" Type="http://schemas.openxmlformats.org/officeDocument/2006/relationships/font" Target="fonts/MontserratSemiBo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regular.fntdata"/><Relationship Id="rId25" Type="http://schemas.openxmlformats.org/officeDocument/2006/relationships/font" Target="fonts/MontserratSemiBold-boldItalic.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bold.fntdata"/><Relationship Id="rId30" Type="http://schemas.openxmlformats.org/officeDocument/2006/relationships/font" Target="fonts/MontserratMedium-regular.fntdata"/><Relationship Id="rId11" Type="http://schemas.openxmlformats.org/officeDocument/2006/relationships/slide" Target="slides/slide6.xml"/><Relationship Id="rId33" Type="http://schemas.openxmlformats.org/officeDocument/2006/relationships/font" Target="fonts/MontserratMedium-boldItalic.fntdata"/><Relationship Id="rId10" Type="http://schemas.openxmlformats.org/officeDocument/2006/relationships/slide" Target="slides/slide5.xml"/><Relationship Id="rId32" Type="http://schemas.openxmlformats.org/officeDocument/2006/relationships/font" Target="fonts/MontserratMedium-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9T21:47:21.186">
    <p:pos x="6000" y="0"/>
    <p:text>Kyle Slide</p:text>
    <p:extLst>
      <p:ext uri="{C676402C-5697-4E1C-873F-D02D1690AC5C}">
        <p15:threadingInfo timeZoneBias="0"/>
      </p:ext>
      <p:ext uri="http://customooxmlschemas.google.com/">
        <go:slidesCustomData xmlns:go="http://customooxmlschemas.google.com/" commentPostId="AAAB4Uo4A0Q"/>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09T00:37:21.100">
    <p:pos x="6000" y="0"/>
    <p:text>Kyle Slide</p:text>
    <p:extLst>
      <p:ext uri="{C676402C-5697-4E1C-873F-D02D1690AC5C}">
        <p15:threadingInfo timeZoneBias="0"/>
      </p:ext>
      <p:ext uri="http://customooxmlschemas.google.com/">
        <go:slidesCustomData xmlns:go="http://customooxmlschemas.google.com/" commentPostId="AAAB4KamHqU"/>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4-08T17:56:16.387">
    <p:pos x="6000" y="0"/>
    <p:text>osvaldo slide</p:text>
    <p:extLst>
      <p:ext uri="{C676402C-5697-4E1C-873F-D02D1690AC5C}">
        <p15:threadingInfo timeZoneBias="0"/>
      </p:ext>
      <p:ext uri="http://customooxmlschemas.google.com/">
        <go:slidesCustomData xmlns:go="http://customooxmlschemas.google.com/" commentPostId="AAAB2vGsEKI"/>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6-04-08T17:39:24.450">
    <p:pos x="6000" y="0"/>
    <p:text>osvaldo talking point</p:text>
    <p:extLst>
      <p:ext uri="{C676402C-5697-4E1C-873F-D02D1690AC5C}">
        <p15:threadingInfo timeZoneBias="0"/>
      </p:ext>
      <p:ext uri="http://customooxmlschemas.google.com/">
        <go:slidesCustomData xmlns:go="http://customooxmlschemas.google.com/" commentPostId="AAAB2vGsEKA"/>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04-08T17:39:09.187">
    <p:pos x="6000" y="0"/>
    <p:text>osvaldo talking point</p:text>
    <p:extLst>
      <p:ext uri="{C676402C-5697-4E1C-873F-D02D1690AC5C}">
        <p15:threadingInfo timeZoneBias="0"/>
      </p:ext>
      <p:ext uri="http://customooxmlschemas.google.com/">
        <go:slidesCustomData xmlns:go="http://customooxmlschemas.google.com/" commentPostId="AAAB2vGsEJ8"/>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6-04-08T17:46:13.849">
    <p:pos x="6000" y="0"/>
    <p:text>osvaldo talking point</p:text>
    <p:extLst>
      <p:ext uri="{C676402C-5697-4E1C-873F-D02D1690AC5C}">
        <p15:threadingInfo timeZoneBias="0"/>
      </p:ext>
      <p:ext uri="http://customooxmlschemas.google.com/">
        <go:slidesCustomData xmlns:go="http://customooxmlschemas.google.com/" commentPostId="AAAB2vGsEKE"/>
      </p:ext>
    </p:extLs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5" dt="2026-04-09T18:16:04.472">
    <p:pos x="6000" y="0"/>
    <p:text>I'll cover this</p:text>
    <p:extLst>
      <p:ext uri="{C676402C-5697-4E1C-873F-D02D1690AC5C}">
        <p15:threadingInfo timeZoneBias="0"/>
      </p:ext>
      <p:ext uri="http://customooxmlschemas.google.com/">
        <go:slidesCustomData xmlns:go="http://customooxmlschemas.google.com/" commentPostId="AAAB4LL1Bx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8b3def9f73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g38b3def9f73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g38b3def9f73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b3def9f73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8b3def9f73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e0bba5dc9_0_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3de0bba5dc9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e0bba5dc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3de0bba5dc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de0bba5dc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e0bba5dc9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de0bba5dc9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e0bba5dc9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de0bba5dc9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52980e9b2_0_1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d52980e9b2_0_11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d52980e9b2_0_11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52980e9b2_0_1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d52980e9b2_0_14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d52980e9b2_0_14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52980e9b2_0_1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d52980e9b2_0_17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d52980e9b2_0_17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1524000" y="1122363"/>
            <a:ext cx="9144000" cy="23876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Montserrat"/>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Montserrat"/>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000"/>
              <a:buNone/>
              <a:defRPr sz="20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Montserrat"/>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7"/>
          <p:cNvSpPr/>
          <p:nvPr>
            <p:ph idx="2" type="pic"/>
          </p:nvPr>
        </p:nvSpPr>
        <p:spPr>
          <a:xfrm>
            <a:off x="5183188" y="987425"/>
            <a:ext cx="6172200" cy="4873625"/>
          </a:xfrm>
          <a:prstGeom prst="rect">
            <a:avLst/>
          </a:prstGeom>
          <a:noFill/>
          <a:ln>
            <a:noFill/>
          </a:ln>
        </p:spPr>
      </p:sp>
      <p:sp>
        <p:nvSpPr>
          <p:cNvPr id="61" name="Google Shape;61;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5" name="Shape 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Montserrat"/>
              <a:buNone/>
              <a:defRPr b="1" i="0" sz="3200" u="none" cap="none" strike="noStrike">
                <a:solidFill>
                  <a:schemeClr val="dk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Montserrat Medium"/>
                <a:ea typeface="Montserrat Medium"/>
                <a:cs typeface="Montserrat Medium"/>
                <a:sym typeface="Montserrat Medium"/>
              </a:defRPr>
            </a:lvl1pPr>
            <a:lvl2pPr indent="-355600" lvl="1" marL="914400" marR="0" rtl="0" algn="l">
              <a:lnSpc>
                <a:spcPct val="90000"/>
              </a:lnSpc>
              <a:spcBef>
                <a:spcPts val="500"/>
              </a:spcBef>
              <a:spcAft>
                <a:spcPts val="0"/>
              </a:spcAft>
              <a:buClr>
                <a:schemeClr val="dk1"/>
              </a:buClr>
              <a:buSzPts val="2000"/>
              <a:buFont typeface="Arial"/>
              <a:buChar char="•"/>
              <a:defRPr b="0" i="1" sz="2000" u="none" cap="none" strike="noStrike">
                <a:solidFill>
                  <a:schemeClr val="dk1"/>
                </a:solidFill>
                <a:latin typeface="Montserrat Medium"/>
                <a:ea typeface="Montserrat Medium"/>
                <a:cs typeface="Montserrat Medium"/>
                <a:sym typeface="Montserrat Medium"/>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Medium"/>
                <a:ea typeface="Montserrat Medium"/>
                <a:cs typeface="Montserrat Medium"/>
                <a:sym typeface="Montserrat Medium"/>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Montserrat Medium"/>
                <a:ea typeface="Montserrat Medium"/>
                <a:cs typeface="Montserrat Medium"/>
                <a:sym typeface="Montserrat Medium"/>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Montserrat Medium"/>
                <a:ea typeface="Montserrat Medium"/>
                <a:cs typeface="Montserrat Medium"/>
                <a:sym typeface="Montserrat Medium"/>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14.jpg"/><Relationship Id="rId5" Type="http://schemas.openxmlformats.org/officeDocument/2006/relationships/image" Target="../media/image2.png"/><Relationship Id="rId6"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17.jpg"/><Relationship Id="rId5" Type="http://schemas.openxmlformats.org/officeDocument/2006/relationships/image" Target="../media/image2.png"/><Relationship Id="rId6" Type="http://schemas.openxmlformats.org/officeDocument/2006/relationships/hyperlink" Target="http://drive.google.com/file/d/1jf6JjCdoQsDrZ7pS0lXm5wBOHJfYFnaQ/view" TargetMode="External"/><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3.xml"/><Relationship Id="rId4" Type="http://schemas.openxmlformats.org/officeDocument/2006/relationships/image" Target="../media/image17.jpg"/><Relationship Id="rId5" Type="http://schemas.openxmlformats.org/officeDocument/2006/relationships/image" Target="../media/image2.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omments" Target="../comments/comment4.xml"/><Relationship Id="rId4" Type="http://schemas.openxmlformats.org/officeDocument/2006/relationships/image" Target="../media/image14.jpg"/><Relationship Id="rId5" Type="http://schemas.openxmlformats.org/officeDocument/2006/relationships/image" Target="../media/image2.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5.xml"/><Relationship Id="rId4" Type="http://schemas.openxmlformats.org/officeDocument/2006/relationships/image" Target="../media/image14.jpg"/><Relationship Id="rId5" Type="http://schemas.openxmlformats.org/officeDocument/2006/relationships/image" Target="../media/image13.jpg"/><Relationship Id="rId6" Type="http://schemas.openxmlformats.org/officeDocument/2006/relationships/image" Target="../media/image2.png"/><Relationship Id="rId7"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6.xml"/><Relationship Id="rId4" Type="http://schemas.openxmlformats.org/officeDocument/2006/relationships/image" Target="../media/image13.jpg"/><Relationship Id="rId5" Type="http://schemas.openxmlformats.org/officeDocument/2006/relationships/image" Target="../media/image2.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7.xml"/><Relationship Id="rId4" Type="http://schemas.openxmlformats.org/officeDocument/2006/relationships/image" Target="../media/image14.jpg"/><Relationship Id="rId5" Type="http://schemas.openxmlformats.org/officeDocument/2006/relationships/image" Target="../media/image13.jpg"/><Relationship Id="rId6" Type="http://schemas.openxmlformats.org/officeDocument/2006/relationships/image" Target="../media/image2.png"/><Relationship Id="rId7"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jp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3"/>
          <p:cNvPicPr preferRelativeResize="0"/>
          <p:nvPr/>
        </p:nvPicPr>
        <p:blipFill rotWithShape="1">
          <a:blip r:embed="rId3">
            <a:alphaModFix/>
          </a:blip>
          <a:srcRect b="-9628" l="2582" r="54758" t="9628"/>
          <a:stretch/>
        </p:blipFill>
        <p:spPr>
          <a:xfrm>
            <a:off x="0" y="-44"/>
            <a:ext cx="2924784" cy="6858000"/>
          </a:xfrm>
          <a:prstGeom prst="rect">
            <a:avLst/>
          </a:prstGeom>
          <a:noFill/>
          <a:ln>
            <a:noFill/>
          </a:ln>
        </p:spPr>
      </p:pic>
      <p:sp>
        <p:nvSpPr>
          <p:cNvPr id="71" name="Google Shape;71;p3"/>
          <p:cNvSpPr/>
          <p:nvPr/>
        </p:nvSpPr>
        <p:spPr>
          <a:xfrm>
            <a:off x="2924792" y="23"/>
            <a:ext cx="9267204" cy="6857933"/>
          </a:xfrm>
          <a:prstGeom prst="rect">
            <a:avLst/>
          </a:prstGeom>
          <a:solidFill>
            <a:srgbClr val="1184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2" name="Google Shape;72;p3"/>
          <p:cNvSpPr/>
          <p:nvPr/>
        </p:nvSpPr>
        <p:spPr>
          <a:xfrm>
            <a:off x="1" y="4817886"/>
            <a:ext cx="2924782" cy="2040114"/>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73" name="Google Shape;73;p3"/>
          <p:cNvCxnSpPr/>
          <p:nvPr/>
        </p:nvCxnSpPr>
        <p:spPr>
          <a:xfrm>
            <a:off x="0" y="4817887"/>
            <a:ext cx="2924783" cy="0"/>
          </a:xfrm>
          <a:prstGeom prst="straightConnector1">
            <a:avLst/>
          </a:prstGeom>
          <a:noFill/>
          <a:ln cap="flat" cmpd="sng" w="76200">
            <a:solidFill>
              <a:schemeClr val="dk1"/>
            </a:solidFill>
            <a:prstDash val="solid"/>
            <a:miter lim="800000"/>
            <a:headEnd len="sm" w="sm" type="none"/>
            <a:tailEnd len="sm" w="sm" type="none"/>
          </a:ln>
        </p:spPr>
      </p:cxnSp>
      <p:cxnSp>
        <p:nvCxnSpPr>
          <p:cNvPr id="74" name="Google Shape;74;p3"/>
          <p:cNvCxnSpPr/>
          <p:nvPr/>
        </p:nvCxnSpPr>
        <p:spPr>
          <a:xfrm>
            <a:off x="2924783" y="0"/>
            <a:ext cx="0" cy="6858000"/>
          </a:xfrm>
          <a:prstGeom prst="straightConnector1">
            <a:avLst/>
          </a:prstGeom>
          <a:noFill/>
          <a:ln cap="flat" cmpd="sng" w="76200">
            <a:solidFill>
              <a:schemeClr val="dk1"/>
            </a:solidFill>
            <a:prstDash val="solid"/>
            <a:miter lim="800000"/>
            <a:headEnd len="sm" w="sm" type="none"/>
            <a:tailEnd len="sm" w="sm" type="none"/>
          </a:ln>
        </p:spPr>
      </p:cxnSp>
      <p:pic>
        <p:nvPicPr>
          <p:cNvPr id="75" name="Google Shape;75;p3"/>
          <p:cNvPicPr preferRelativeResize="0"/>
          <p:nvPr/>
        </p:nvPicPr>
        <p:blipFill rotWithShape="1">
          <a:blip r:embed="rId4">
            <a:alphaModFix/>
          </a:blip>
          <a:srcRect b="10891" l="0" r="0" t="5820"/>
          <a:stretch/>
        </p:blipFill>
        <p:spPr>
          <a:xfrm>
            <a:off x="162689" y="6218491"/>
            <a:ext cx="1006782" cy="479649"/>
          </a:xfrm>
          <a:prstGeom prst="rect">
            <a:avLst/>
          </a:prstGeom>
          <a:noFill/>
          <a:ln>
            <a:noFill/>
          </a:ln>
        </p:spPr>
      </p:pic>
      <p:sp>
        <p:nvSpPr>
          <p:cNvPr id="76" name="Google Shape;76;p3"/>
          <p:cNvSpPr txBox="1"/>
          <p:nvPr>
            <p:ph type="ctrTitle"/>
          </p:nvPr>
        </p:nvSpPr>
        <p:spPr>
          <a:xfrm>
            <a:off x="3614767" y="655846"/>
            <a:ext cx="7105235" cy="305175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4800"/>
              <a:buFont typeface="Montserrat"/>
              <a:buNone/>
            </a:pPr>
            <a:r>
              <a:rPr lang="en-US">
                <a:solidFill>
                  <a:schemeClr val="lt1"/>
                </a:solidFill>
              </a:rPr>
              <a:t>Task Manager</a:t>
            </a:r>
            <a:endParaRPr sz="7200">
              <a:solidFill>
                <a:schemeClr val="lt1"/>
              </a:solidFill>
            </a:endParaRPr>
          </a:p>
        </p:txBody>
      </p:sp>
      <p:sp>
        <p:nvSpPr>
          <p:cNvPr id="77" name="Google Shape;77;p3"/>
          <p:cNvSpPr txBox="1"/>
          <p:nvPr>
            <p:ph idx="1" type="subTitle"/>
          </p:nvPr>
        </p:nvSpPr>
        <p:spPr>
          <a:xfrm>
            <a:off x="3779583" y="3580547"/>
            <a:ext cx="6409146" cy="16557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2400"/>
              <a:buNone/>
            </a:pPr>
            <a:r>
              <a:rPr lang="en-US">
                <a:solidFill>
                  <a:schemeClr val="lt1"/>
                </a:solidFill>
              </a:rPr>
              <a:t>Authors: Kyle Bluemel, Javi Gutierrez, Jake Michie &amp; Osvaldo Saldana</a:t>
            </a:r>
            <a:endParaRPr i="1" sz="2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8b3def9f73_0_30"/>
          <p:cNvSpPr/>
          <p:nvPr/>
        </p:nvSpPr>
        <p:spPr>
          <a:xfrm>
            <a:off x="4675761" y="0"/>
            <a:ext cx="7516200" cy="1563000"/>
          </a:xfrm>
          <a:prstGeom prst="rect">
            <a:avLst/>
          </a:prstGeom>
          <a:solidFill>
            <a:srgbClr val="70B649"/>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84" name="Google Shape;84;g38b3def9f73_0_30"/>
          <p:cNvPicPr preferRelativeResize="0"/>
          <p:nvPr/>
        </p:nvPicPr>
        <p:blipFill rotWithShape="1">
          <a:blip r:embed="rId4">
            <a:alphaModFix/>
          </a:blip>
          <a:srcRect b="44798" l="35697" r="22223" t="32412"/>
          <a:stretch/>
        </p:blipFill>
        <p:spPr>
          <a:xfrm>
            <a:off x="0" y="0"/>
            <a:ext cx="2897598" cy="1562911"/>
          </a:xfrm>
          <a:prstGeom prst="rect">
            <a:avLst/>
          </a:prstGeom>
          <a:noFill/>
          <a:ln>
            <a:noFill/>
          </a:ln>
        </p:spPr>
      </p:pic>
      <p:cxnSp>
        <p:nvCxnSpPr>
          <p:cNvPr id="85" name="Google Shape;85;g38b3def9f73_0_30"/>
          <p:cNvCxnSpPr/>
          <p:nvPr/>
        </p:nvCxnSpPr>
        <p:spPr>
          <a:xfrm>
            <a:off x="4675761" y="0"/>
            <a:ext cx="0" cy="1563000"/>
          </a:xfrm>
          <a:prstGeom prst="straightConnector1">
            <a:avLst/>
          </a:prstGeom>
          <a:noFill/>
          <a:ln cap="flat" cmpd="sng" w="76200">
            <a:solidFill>
              <a:schemeClr val="dk1"/>
            </a:solidFill>
            <a:prstDash val="solid"/>
            <a:miter lim="800000"/>
            <a:headEnd len="sm" w="sm" type="none"/>
            <a:tailEnd len="sm" w="sm" type="none"/>
          </a:ln>
        </p:spPr>
      </p:cxnSp>
      <p:cxnSp>
        <p:nvCxnSpPr>
          <p:cNvPr id="86" name="Google Shape;86;g38b3def9f73_0_30"/>
          <p:cNvCxnSpPr/>
          <p:nvPr/>
        </p:nvCxnSpPr>
        <p:spPr>
          <a:xfrm>
            <a:off x="0" y="1562911"/>
            <a:ext cx="12192000" cy="0"/>
          </a:xfrm>
          <a:prstGeom prst="straightConnector1">
            <a:avLst/>
          </a:prstGeom>
          <a:noFill/>
          <a:ln cap="flat" cmpd="sng" w="76200">
            <a:solidFill>
              <a:schemeClr val="dk1"/>
            </a:solidFill>
            <a:prstDash val="solid"/>
            <a:miter lim="800000"/>
            <a:headEnd len="sm" w="sm" type="none"/>
            <a:tailEnd len="sm" w="sm" type="none"/>
          </a:ln>
        </p:spPr>
      </p:cxnSp>
      <p:cxnSp>
        <p:nvCxnSpPr>
          <p:cNvPr id="87" name="Google Shape;87;g38b3def9f73_0_30"/>
          <p:cNvCxnSpPr/>
          <p:nvPr/>
        </p:nvCxnSpPr>
        <p:spPr>
          <a:xfrm>
            <a:off x="2924783" y="0"/>
            <a:ext cx="0" cy="6858000"/>
          </a:xfrm>
          <a:prstGeom prst="straightConnector1">
            <a:avLst/>
          </a:prstGeom>
          <a:noFill/>
          <a:ln cap="flat" cmpd="sng" w="76200">
            <a:solidFill>
              <a:schemeClr val="dk1"/>
            </a:solidFill>
            <a:prstDash val="solid"/>
            <a:miter lim="800000"/>
            <a:headEnd len="sm" w="sm" type="none"/>
            <a:tailEnd len="sm" w="sm" type="none"/>
          </a:ln>
        </p:spPr>
      </p:cxnSp>
      <p:pic>
        <p:nvPicPr>
          <p:cNvPr id="88" name="Google Shape;88;g38b3def9f73_0_30"/>
          <p:cNvPicPr preferRelativeResize="0"/>
          <p:nvPr/>
        </p:nvPicPr>
        <p:blipFill rotWithShape="1">
          <a:blip r:embed="rId5">
            <a:alphaModFix/>
          </a:blip>
          <a:srcRect b="-5418" l="0" r="0" t="5817"/>
          <a:stretch/>
        </p:blipFill>
        <p:spPr>
          <a:xfrm>
            <a:off x="258605" y="6275540"/>
            <a:ext cx="1006783" cy="573595"/>
          </a:xfrm>
          <a:prstGeom prst="rect">
            <a:avLst/>
          </a:prstGeom>
          <a:noFill/>
          <a:ln>
            <a:noFill/>
          </a:ln>
        </p:spPr>
      </p:pic>
      <p:sp>
        <p:nvSpPr>
          <p:cNvPr id="89" name="Google Shape;89;g38b3def9f73_0_30"/>
          <p:cNvSpPr txBox="1"/>
          <p:nvPr/>
        </p:nvSpPr>
        <p:spPr>
          <a:xfrm>
            <a:off x="4742725" y="315875"/>
            <a:ext cx="7366200" cy="11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solidFill>
                  <a:schemeClr val="dk1"/>
                </a:solidFill>
                <a:latin typeface="Montserrat Medium"/>
                <a:ea typeface="Montserrat Medium"/>
                <a:cs typeface="Montserrat Medium"/>
                <a:sym typeface="Montserrat Medium"/>
              </a:rPr>
              <a:t>Project Overview</a:t>
            </a:r>
            <a:endParaRPr sz="4800">
              <a:solidFill>
                <a:schemeClr val="dk1"/>
              </a:solidFill>
              <a:latin typeface="Montserrat Medium"/>
              <a:ea typeface="Montserrat Medium"/>
              <a:cs typeface="Montserrat Medium"/>
              <a:sym typeface="Montserrat Medium"/>
            </a:endParaRPr>
          </a:p>
        </p:txBody>
      </p:sp>
      <p:sp>
        <p:nvSpPr>
          <p:cNvPr id="90" name="Google Shape;90;g38b3def9f73_0_30"/>
          <p:cNvSpPr txBox="1"/>
          <p:nvPr/>
        </p:nvSpPr>
        <p:spPr>
          <a:xfrm>
            <a:off x="2958700" y="1591575"/>
            <a:ext cx="9083400" cy="51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Montserrat Medium"/>
                <a:ea typeface="Montserrat Medium"/>
                <a:cs typeface="Montserrat Medium"/>
                <a:sym typeface="Montserrat Medium"/>
              </a:rPr>
              <a:t>Simple website that keeps track of tasks that are needed to be completed. We want to be able to filter all of the tasks by status and priority, and then sort it by Date added, Priority, Due date, and Title. The actual tasks have variables including, Title, Description, Priority, Due date, and notes. </a:t>
            </a:r>
            <a:endParaRPr sz="2400">
              <a:solidFill>
                <a:schemeClr val="dk1"/>
              </a:solidFill>
              <a:latin typeface="Montserrat Medium"/>
              <a:ea typeface="Montserrat Medium"/>
              <a:cs typeface="Montserrat Medium"/>
              <a:sym typeface="Montserrat Medium"/>
            </a:endParaRPr>
          </a:p>
        </p:txBody>
      </p:sp>
      <p:pic>
        <p:nvPicPr>
          <p:cNvPr id="91" name="Google Shape;91;g38b3def9f73_0_30" title="ChecklistImg.jpg"/>
          <p:cNvPicPr preferRelativeResize="0"/>
          <p:nvPr/>
        </p:nvPicPr>
        <p:blipFill>
          <a:blip r:embed="rId6">
            <a:alphaModFix/>
          </a:blip>
          <a:stretch>
            <a:fillRect/>
          </a:stretch>
        </p:blipFill>
        <p:spPr>
          <a:xfrm>
            <a:off x="7389775" y="3644175"/>
            <a:ext cx="4719149" cy="31460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8b3def9f73_0_12"/>
          <p:cNvSpPr/>
          <p:nvPr/>
        </p:nvSpPr>
        <p:spPr>
          <a:xfrm>
            <a:off x="9312614" y="-1"/>
            <a:ext cx="2879400" cy="2316300"/>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7" name="Google Shape;97;g38b3def9f73_0_12"/>
          <p:cNvSpPr/>
          <p:nvPr/>
        </p:nvSpPr>
        <p:spPr>
          <a:xfrm>
            <a:off x="2924783" y="4817887"/>
            <a:ext cx="1751100" cy="2040000"/>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8" name="Google Shape;98;g38b3def9f73_0_12"/>
          <p:cNvPicPr preferRelativeResize="0"/>
          <p:nvPr/>
        </p:nvPicPr>
        <p:blipFill rotWithShape="1">
          <a:blip r:embed="rId4">
            <a:alphaModFix/>
          </a:blip>
          <a:srcRect b="33858" l="25919" r="31800" t="0"/>
          <a:stretch/>
        </p:blipFill>
        <p:spPr>
          <a:xfrm>
            <a:off x="9312614" y="2322648"/>
            <a:ext cx="2898843" cy="4535997"/>
          </a:xfrm>
          <a:prstGeom prst="rect">
            <a:avLst/>
          </a:prstGeom>
          <a:noFill/>
          <a:ln>
            <a:noFill/>
          </a:ln>
        </p:spPr>
      </p:pic>
      <p:cxnSp>
        <p:nvCxnSpPr>
          <p:cNvPr id="99" name="Google Shape;99;g38b3def9f73_0_12"/>
          <p:cNvCxnSpPr/>
          <p:nvPr/>
        </p:nvCxnSpPr>
        <p:spPr>
          <a:xfrm>
            <a:off x="4675761"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00" name="Google Shape;100;g38b3def9f73_0_12"/>
          <p:cNvCxnSpPr/>
          <p:nvPr/>
        </p:nvCxnSpPr>
        <p:spPr>
          <a:xfrm>
            <a:off x="0" y="4156953"/>
            <a:ext cx="4675800" cy="0"/>
          </a:xfrm>
          <a:prstGeom prst="straightConnector1">
            <a:avLst/>
          </a:prstGeom>
          <a:noFill/>
          <a:ln cap="flat" cmpd="sng" w="76200">
            <a:solidFill>
              <a:schemeClr val="dk1"/>
            </a:solidFill>
            <a:prstDash val="solid"/>
            <a:miter lim="800000"/>
            <a:headEnd len="sm" w="sm" type="none"/>
            <a:tailEnd len="sm" w="sm" type="none"/>
          </a:ln>
        </p:spPr>
      </p:cxnSp>
      <p:cxnSp>
        <p:nvCxnSpPr>
          <p:cNvPr id="101" name="Google Shape;101;g38b3def9f73_0_12"/>
          <p:cNvCxnSpPr/>
          <p:nvPr/>
        </p:nvCxnSpPr>
        <p:spPr>
          <a:xfrm>
            <a:off x="2924783" y="4163438"/>
            <a:ext cx="0" cy="2694600"/>
          </a:xfrm>
          <a:prstGeom prst="straightConnector1">
            <a:avLst/>
          </a:prstGeom>
          <a:noFill/>
          <a:ln cap="flat" cmpd="sng" w="76200">
            <a:solidFill>
              <a:schemeClr val="dk1"/>
            </a:solidFill>
            <a:prstDash val="solid"/>
            <a:miter lim="800000"/>
            <a:headEnd len="sm" w="sm" type="none"/>
            <a:tailEnd len="sm" w="sm" type="none"/>
          </a:ln>
        </p:spPr>
      </p:cxnSp>
      <p:cxnSp>
        <p:nvCxnSpPr>
          <p:cNvPr id="102" name="Google Shape;102;g38b3def9f73_0_12"/>
          <p:cNvCxnSpPr/>
          <p:nvPr/>
        </p:nvCxnSpPr>
        <p:spPr>
          <a:xfrm>
            <a:off x="2924783" y="4811400"/>
            <a:ext cx="1776900" cy="0"/>
          </a:xfrm>
          <a:prstGeom prst="straightConnector1">
            <a:avLst/>
          </a:prstGeom>
          <a:noFill/>
          <a:ln cap="flat" cmpd="sng" w="76200">
            <a:solidFill>
              <a:schemeClr val="dk1"/>
            </a:solidFill>
            <a:prstDash val="solid"/>
            <a:miter lim="800000"/>
            <a:headEnd len="sm" w="sm" type="none"/>
            <a:tailEnd len="sm" w="sm" type="none"/>
          </a:ln>
        </p:spPr>
      </p:cxnSp>
      <p:cxnSp>
        <p:nvCxnSpPr>
          <p:cNvPr id="103" name="Google Shape;103;g38b3def9f73_0_12"/>
          <p:cNvCxnSpPr/>
          <p:nvPr/>
        </p:nvCxnSpPr>
        <p:spPr>
          <a:xfrm flipH="1">
            <a:off x="9299727" y="2316163"/>
            <a:ext cx="2924700" cy="6600"/>
          </a:xfrm>
          <a:prstGeom prst="straightConnector1">
            <a:avLst/>
          </a:prstGeom>
          <a:noFill/>
          <a:ln cap="flat" cmpd="sng" w="76200">
            <a:solidFill>
              <a:schemeClr val="dk1"/>
            </a:solidFill>
            <a:prstDash val="solid"/>
            <a:miter lim="800000"/>
            <a:headEnd len="sm" w="sm" type="none"/>
            <a:tailEnd len="sm" w="sm" type="none"/>
          </a:ln>
        </p:spPr>
      </p:cxnSp>
      <p:cxnSp>
        <p:nvCxnSpPr>
          <p:cNvPr id="104" name="Google Shape;104;g38b3def9f73_0_12"/>
          <p:cNvCxnSpPr/>
          <p:nvPr/>
        </p:nvCxnSpPr>
        <p:spPr>
          <a:xfrm>
            <a:off x="9299643"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05" name="Google Shape;105;g38b3def9f73_0_12"/>
          <p:cNvCxnSpPr/>
          <p:nvPr/>
        </p:nvCxnSpPr>
        <p:spPr>
          <a:xfrm flipH="1">
            <a:off x="4701658" y="5257800"/>
            <a:ext cx="4591500" cy="6600"/>
          </a:xfrm>
          <a:prstGeom prst="straightConnector1">
            <a:avLst/>
          </a:prstGeom>
          <a:noFill/>
          <a:ln cap="flat" cmpd="sng" w="76200">
            <a:solidFill>
              <a:schemeClr val="dk1"/>
            </a:solidFill>
            <a:prstDash val="solid"/>
            <a:miter lim="800000"/>
            <a:headEnd len="sm" w="sm" type="none"/>
            <a:tailEnd len="sm" w="sm" type="none"/>
          </a:ln>
        </p:spPr>
      </p:cxnSp>
      <p:pic>
        <p:nvPicPr>
          <p:cNvPr id="106" name="Google Shape;106;g38b3def9f73_0_12"/>
          <p:cNvPicPr preferRelativeResize="0"/>
          <p:nvPr/>
        </p:nvPicPr>
        <p:blipFill rotWithShape="1">
          <a:blip r:embed="rId5">
            <a:alphaModFix/>
          </a:blip>
          <a:srcRect b="-5418" l="0" r="0" t="5817"/>
          <a:stretch/>
        </p:blipFill>
        <p:spPr>
          <a:xfrm>
            <a:off x="10939135" y="6284405"/>
            <a:ext cx="1006782" cy="573595"/>
          </a:xfrm>
          <a:prstGeom prst="rect">
            <a:avLst/>
          </a:prstGeom>
          <a:noFill/>
          <a:ln>
            <a:noFill/>
          </a:ln>
        </p:spPr>
      </p:pic>
      <p:sp>
        <p:nvSpPr>
          <p:cNvPr id="107" name="Google Shape;107;g38b3def9f73_0_12"/>
          <p:cNvSpPr txBox="1"/>
          <p:nvPr/>
        </p:nvSpPr>
        <p:spPr>
          <a:xfrm>
            <a:off x="23650" y="28125"/>
            <a:ext cx="4591500" cy="4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Montserrat Medium"/>
                <a:ea typeface="Montserrat Medium"/>
                <a:cs typeface="Montserrat Medium"/>
                <a:sym typeface="Montserrat Medium"/>
              </a:rPr>
              <a:t>Demo</a:t>
            </a:r>
            <a:endParaRPr sz="2400">
              <a:solidFill>
                <a:schemeClr val="dk1"/>
              </a:solidFill>
              <a:latin typeface="Montserrat Medium"/>
              <a:ea typeface="Montserrat Medium"/>
              <a:cs typeface="Montserrat Medium"/>
              <a:sym typeface="Montserrat Medium"/>
            </a:endParaRPr>
          </a:p>
        </p:txBody>
      </p:sp>
      <p:pic>
        <p:nvPicPr>
          <p:cNvPr id="108" name="Google Shape;108;g38b3def9f73_0_12" title="2026-04-09 17-09-23.mp4">
            <a:hlinkClick r:id="rId6"/>
          </p:cNvPr>
          <p:cNvPicPr preferRelativeResize="0"/>
          <p:nvPr/>
        </p:nvPicPr>
        <p:blipFill>
          <a:blip r:embed="rId7">
            <a:alphaModFix/>
          </a:blip>
          <a:stretch>
            <a:fillRect/>
          </a:stretch>
        </p:blipFill>
        <p:spPr>
          <a:xfrm>
            <a:off x="2209150" y="111975"/>
            <a:ext cx="8845400" cy="663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de0bba5dc9_0_65"/>
          <p:cNvSpPr/>
          <p:nvPr/>
        </p:nvSpPr>
        <p:spPr>
          <a:xfrm>
            <a:off x="9312614" y="-1"/>
            <a:ext cx="2879400" cy="2316300"/>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 name="Google Shape;114;g3de0bba5dc9_0_65"/>
          <p:cNvSpPr/>
          <p:nvPr/>
        </p:nvSpPr>
        <p:spPr>
          <a:xfrm>
            <a:off x="2924783" y="4817887"/>
            <a:ext cx="1751100" cy="2040000"/>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5" name="Google Shape;115;g3de0bba5dc9_0_65"/>
          <p:cNvPicPr preferRelativeResize="0"/>
          <p:nvPr/>
        </p:nvPicPr>
        <p:blipFill rotWithShape="1">
          <a:blip r:embed="rId4">
            <a:alphaModFix/>
          </a:blip>
          <a:srcRect b="33858" l="25919" r="31800" t="0"/>
          <a:stretch/>
        </p:blipFill>
        <p:spPr>
          <a:xfrm>
            <a:off x="9312614" y="2322648"/>
            <a:ext cx="2898843" cy="4535997"/>
          </a:xfrm>
          <a:prstGeom prst="rect">
            <a:avLst/>
          </a:prstGeom>
          <a:noFill/>
          <a:ln>
            <a:noFill/>
          </a:ln>
        </p:spPr>
      </p:pic>
      <p:sp>
        <p:nvSpPr>
          <p:cNvPr id="116" name="Google Shape;116;g3de0bba5dc9_0_65"/>
          <p:cNvSpPr txBox="1"/>
          <p:nvPr>
            <p:ph type="ctrTitle"/>
          </p:nvPr>
        </p:nvSpPr>
        <p:spPr>
          <a:xfrm>
            <a:off x="4867072" y="565225"/>
            <a:ext cx="4205700" cy="4486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Montserrat"/>
              <a:buNone/>
            </a:pPr>
            <a:r>
              <a:t/>
            </a:r>
            <a:endParaRPr/>
          </a:p>
          <a:p>
            <a:pPr indent="0" lvl="0" marL="0" rtl="0" algn="ctr">
              <a:lnSpc>
                <a:spcPct val="90000"/>
              </a:lnSpc>
              <a:spcBef>
                <a:spcPts val="0"/>
              </a:spcBef>
              <a:spcAft>
                <a:spcPts val="0"/>
              </a:spcAft>
              <a:buClr>
                <a:schemeClr val="dk1"/>
              </a:buClr>
              <a:buSzPts val="4800"/>
              <a:buFont typeface="Montserrat"/>
              <a:buNone/>
            </a:pPr>
            <a:r>
              <a:rPr lang="en-US"/>
              <a:t>Two Weekly Meetings</a:t>
            </a:r>
            <a:endParaRPr/>
          </a:p>
        </p:txBody>
      </p:sp>
      <p:sp>
        <p:nvSpPr>
          <p:cNvPr id="117" name="Google Shape;117;g3de0bba5dc9_0_65"/>
          <p:cNvSpPr txBox="1"/>
          <p:nvPr>
            <p:ph idx="1" type="subTitle"/>
          </p:nvPr>
        </p:nvSpPr>
        <p:spPr>
          <a:xfrm>
            <a:off x="4854102" y="5464991"/>
            <a:ext cx="4254300" cy="12699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Stand-up meetings for 15 minutes and one-hour in depth meetings</a:t>
            </a:r>
            <a:endParaRPr/>
          </a:p>
        </p:txBody>
      </p:sp>
      <p:cxnSp>
        <p:nvCxnSpPr>
          <p:cNvPr id="118" name="Google Shape;118;g3de0bba5dc9_0_65"/>
          <p:cNvCxnSpPr/>
          <p:nvPr/>
        </p:nvCxnSpPr>
        <p:spPr>
          <a:xfrm>
            <a:off x="4675761"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19" name="Google Shape;119;g3de0bba5dc9_0_65"/>
          <p:cNvCxnSpPr/>
          <p:nvPr/>
        </p:nvCxnSpPr>
        <p:spPr>
          <a:xfrm>
            <a:off x="0" y="4156953"/>
            <a:ext cx="4675800" cy="0"/>
          </a:xfrm>
          <a:prstGeom prst="straightConnector1">
            <a:avLst/>
          </a:prstGeom>
          <a:noFill/>
          <a:ln cap="flat" cmpd="sng" w="76200">
            <a:solidFill>
              <a:schemeClr val="dk1"/>
            </a:solidFill>
            <a:prstDash val="solid"/>
            <a:miter lim="800000"/>
            <a:headEnd len="sm" w="sm" type="none"/>
            <a:tailEnd len="sm" w="sm" type="none"/>
          </a:ln>
        </p:spPr>
      </p:cxnSp>
      <p:cxnSp>
        <p:nvCxnSpPr>
          <p:cNvPr id="120" name="Google Shape;120;g3de0bba5dc9_0_65"/>
          <p:cNvCxnSpPr/>
          <p:nvPr/>
        </p:nvCxnSpPr>
        <p:spPr>
          <a:xfrm>
            <a:off x="2924783" y="4163438"/>
            <a:ext cx="0" cy="2694600"/>
          </a:xfrm>
          <a:prstGeom prst="straightConnector1">
            <a:avLst/>
          </a:prstGeom>
          <a:noFill/>
          <a:ln cap="flat" cmpd="sng" w="76200">
            <a:solidFill>
              <a:schemeClr val="dk1"/>
            </a:solidFill>
            <a:prstDash val="solid"/>
            <a:miter lim="800000"/>
            <a:headEnd len="sm" w="sm" type="none"/>
            <a:tailEnd len="sm" w="sm" type="none"/>
          </a:ln>
        </p:spPr>
      </p:cxnSp>
      <p:cxnSp>
        <p:nvCxnSpPr>
          <p:cNvPr id="121" name="Google Shape;121;g3de0bba5dc9_0_65"/>
          <p:cNvCxnSpPr/>
          <p:nvPr/>
        </p:nvCxnSpPr>
        <p:spPr>
          <a:xfrm>
            <a:off x="2924783" y="4811400"/>
            <a:ext cx="1776900" cy="0"/>
          </a:xfrm>
          <a:prstGeom prst="straightConnector1">
            <a:avLst/>
          </a:prstGeom>
          <a:noFill/>
          <a:ln cap="flat" cmpd="sng" w="76200">
            <a:solidFill>
              <a:schemeClr val="dk1"/>
            </a:solidFill>
            <a:prstDash val="solid"/>
            <a:miter lim="800000"/>
            <a:headEnd len="sm" w="sm" type="none"/>
            <a:tailEnd len="sm" w="sm" type="none"/>
          </a:ln>
        </p:spPr>
      </p:cxnSp>
      <p:cxnSp>
        <p:nvCxnSpPr>
          <p:cNvPr id="122" name="Google Shape;122;g3de0bba5dc9_0_65"/>
          <p:cNvCxnSpPr/>
          <p:nvPr/>
        </p:nvCxnSpPr>
        <p:spPr>
          <a:xfrm flipH="1">
            <a:off x="9299727" y="2316163"/>
            <a:ext cx="2924700" cy="6600"/>
          </a:xfrm>
          <a:prstGeom prst="straightConnector1">
            <a:avLst/>
          </a:prstGeom>
          <a:noFill/>
          <a:ln cap="flat" cmpd="sng" w="76200">
            <a:solidFill>
              <a:schemeClr val="dk1"/>
            </a:solidFill>
            <a:prstDash val="solid"/>
            <a:miter lim="800000"/>
            <a:headEnd len="sm" w="sm" type="none"/>
            <a:tailEnd len="sm" w="sm" type="none"/>
          </a:ln>
        </p:spPr>
      </p:cxnSp>
      <p:cxnSp>
        <p:nvCxnSpPr>
          <p:cNvPr id="123" name="Google Shape;123;g3de0bba5dc9_0_65"/>
          <p:cNvCxnSpPr/>
          <p:nvPr/>
        </p:nvCxnSpPr>
        <p:spPr>
          <a:xfrm>
            <a:off x="9299643"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24" name="Google Shape;124;g3de0bba5dc9_0_65"/>
          <p:cNvCxnSpPr/>
          <p:nvPr/>
        </p:nvCxnSpPr>
        <p:spPr>
          <a:xfrm flipH="1">
            <a:off x="4701658" y="5257800"/>
            <a:ext cx="4591500" cy="6600"/>
          </a:xfrm>
          <a:prstGeom prst="straightConnector1">
            <a:avLst/>
          </a:prstGeom>
          <a:noFill/>
          <a:ln cap="flat" cmpd="sng" w="76200">
            <a:solidFill>
              <a:schemeClr val="dk1"/>
            </a:solidFill>
            <a:prstDash val="solid"/>
            <a:miter lim="800000"/>
            <a:headEnd len="sm" w="sm" type="none"/>
            <a:tailEnd len="sm" w="sm" type="none"/>
          </a:ln>
        </p:spPr>
      </p:cxnSp>
      <p:pic>
        <p:nvPicPr>
          <p:cNvPr id="125" name="Google Shape;125;g3de0bba5dc9_0_65"/>
          <p:cNvPicPr preferRelativeResize="0"/>
          <p:nvPr/>
        </p:nvPicPr>
        <p:blipFill rotWithShape="1">
          <a:blip r:embed="rId5">
            <a:alphaModFix/>
          </a:blip>
          <a:srcRect b="-5418" l="0" r="0" t="5817"/>
          <a:stretch/>
        </p:blipFill>
        <p:spPr>
          <a:xfrm>
            <a:off x="10939135" y="6284405"/>
            <a:ext cx="1006782" cy="573595"/>
          </a:xfrm>
          <a:prstGeom prst="rect">
            <a:avLst/>
          </a:prstGeom>
          <a:noFill/>
          <a:ln>
            <a:noFill/>
          </a:ln>
        </p:spPr>
      </p:pic>
      <p:pic>
        <p:nvPicPr>
          <p:cNvPr id="126" name="Google Shape;126;g3de0bba5dc9_0_65"/>
          <p:cNvPicPr preferRelativeResize="0"/>
          <p:nvPr/>
        </p:nvPicPr>
        <p:blipFill>
          <a:blip r:embed="rId6">
            <a:alphaModFix/>
          </a:blip>
          <a:stretch>
            <a:fillRect/>
          </a:stretch>
        </p:blipFill>
        <p:spPr>
          <a:xfrm>
            <a:off x="0" y="0"/>
            <a:ext cx="4675800" cy="4157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de0bba5dc9_0_0"/>
          <p:cNvSpPr/>
          <p:nvPr/>
        </p:nvSpPr>
        <p:spPr>
          <a:xfrm>
            <a:off x="4675761" y="0"/>
            <a:ext cx="7516200" cy="1563000"/>
          </a:xfrm>
          <a:prstGeom prst="rect">
            <a:avLst/>
          </a:prstGeom>
          <a:solidFill>
            <a:srgbClr val="70B649"/>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3" name="Google Shape;133;g3de0bba5dc9_0_0"/>
          <p:cNvPicPr preferRelativeResize="0"/>
          <p:nvPr/>
        </p:nvPicPr>
        <p:blipFill rotWithShape="1">
          <a:blip r:embed="rId4">
            <a:alphaModFix/>
          </a:blip>
          <a:srcRect b="44798" l="35697" r="22223" t="32412"/>
          <a:stretch/>
        </p:blipFill>
        <p:spPr>
          <a:xfrm>
            <a:off x="0" y="0"/>
            <a:ext cx="2897598" cy="1562911"/>
          </a:xfrm>
          <a:prstGeom prst="rect">
            <a:avLst/>
          </a:prstGeom>
          <a:noFill/>
          <a:ln>
            <a:noFill/>
          </a:ln>
        </p:spPr>
      </p:pic>
      <p:sp>
        <p:nvSpPr>
          <p:cNvPr id="134" name="Google Shape;134;g3de0bba5dc9_0_0"/>
          <p:cNvSpPr txBox="1"/>
          <p:nvPr>
            <p:ph type="ctrTitle"/>
          </p:nvPr>
        </p:nvSpPr>
        <p:spPr>
          <a:xfrm>
            <a:off x="311285" y="1842210"/>
            <a:ext cx="2406000" cy="1586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Montserrat"/>
              <a:buNone/>
            </a:pPr>
            <a:r>
              <a:rPr lang="en-US" sz="3200"/>
              <a:t>Git Project Board</a:t>
            </a:r>
            <a:endParaRPr sz="3200"/>
          </a:p>
        </p:txBody>
      </p:sp>
      <p:sp>
        <p:nvSpPr>
          <p:cNvPr id="135" name="Google Shape;135;g3de0bba5dc9_0_0"/>
          <p:cNvSpPr txBox="1"/>
          <p:nvPr>
            <p:ph idx="1" type="subTitle"/>
          </p:nvPr>
        </p:nvSpPr>
        <p:spPr>
          <a:xfrm>
            <a:off x="311285" y="3533054"/>
            <a:ext cx="2406000" cy="26736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rPr lang="en-US" sz="1600"/>
              <a:t>Major tasks were created and assigned to team members on a weekly basis</a:t>
            </a:r>
            <a:endParaRPr sz="1600"/>
          </a:p>
        </p:txBody>
      </p:sp>
      <p:cxnSp>
        <p:nvCxnSpPr>
          <p:cNvPr id="136" name="Google Shape;136;g3de0bba5dc9_0_0"/>
          <p:cNvCxnSpPr/>
          <p:nvPr/>
        </p:nvCxnSpPr>
        <p:spPr>
          <a:xfrm>
            <a:off x="4675761" y="0"/>
            <a:ext cx="0" cy="1563000"/>
          </a:xfrm>
          <a:prstGeom prst="straightConnector1">
            <a:avLst/>
          </a:prstGeom>
          <a:noFill/>
          <a:ln cap="flat" cmpd="sng" w="76200">
            <a:solidFill>
              <a:schemeClr val="dk1"/>
            </a:solidFill>
            <a:prstDash val="solid"/>
            <a:miter lim="800000"/>
            <a:headEnd len="sm" w="sm" type="none"/>
            <a:tailEnd len="sm" w="sm" type="none"/>
          </a:ln>
        </p:spPr>
      </p:cxnSp>
      <p:cxnSp>
        <p:nvCxnSpPr>
          <p:cNvPr id="137" name="Google Shape;137;g3de0bba5dc9_0_0"/>
          <p:cNvCxnSpPr/>
          <p:nvPr/>
        </p:nvCxnSpPr>
        <p:spPr>
          <a:xfrm>
            <a:off x="0" y="1562911"/>
            <a:ext cx="12192000" cy="0"/>
          </a:xfrm>
          <a:prstGeom prst="straightConnector1">
            <a:avLst/>
          </a:prstGeom>
          <a:noFill/>
          <a:ln cap="flat" cmpd="sng" w="76200">
            <a:solidFill>
              <a:schemeClr val="dk1"/>
            </a:solidFill>
            <a:prstDash val="solid"/>
            <a:miter lim="800000"/>
            <a:headEnd len="sm" w="sm" type="none"/>
            <a:tailEnd len="sm" w="sm" type="none"/>
          </a:ln>
        </p:spPr>
      </p:cxnSp>
      <p:cxnSp>
        <p:nvCxnSpPr>
          <p:cNvPr id="138" name="Google Shape;138;g3de0bba5dc9_0_0"/>
          <p:cNvCxnSpPr/>
          <p:nvPr/>
        </p:nvCxnSpPr>
        <p:spPr>
          <a:xfrm>
            <a:off x="2924783" y="0"/>
            <a:ext cx="0" cy="6858000"/>
          </a:xfrm>
          <a:prstGeom prst="straightConnector1">
            <a:avLst/>
          </a:prstGeom>
          <a:noFill/>
          <a:ln cap="flat" cmpd="sng" w="76200">
            <a:solidFill>
              <a:schemeClr val="dk1"/>
            </a:solidFill>
            <a:prstDash val="solid"/>
            <a:miter lim="800000"/>
            <a:headEnd len="sm" w="sm" type="none"/>
            <a:tailEnd len="sm" w="sm" type="none"/>
          </a:ln>
        </p:spPr>
      </p:cxnSp>
      <p:pic>
        <p:nvPicPr>
          <p:cNvPr id="139" name="Google Shape;139;g3de0bba5dc9_0_0"/>
          <p:cNvPicPr preferRelativeResize="0"/>
          <p:nvPr/>
        </p:nvPicPr>
        <p:blipFill rotWithShape="1">
          <a:blip r:embed="rId5">
            <a:alphaModFix/>
          </a:blip>
          <a:srcRect b="-5418" l="0" r="0" t="5817"/>
          <a:stretch/>
        </p:blipFill>
        <p:spPr>
          <a:xfrm>
            <a:off x="258605" y="6275540"/>
            <a:ext cx="1006783" cy="573595"/>
          </a:xfrm>
          <a:prstGeom prst="rect">
            <a:avLst/>
          </a:prstGeom>
          <a:noFill/>
          <a:ln>
            <a:noFill/>
          </a:ln>
        </p:spPr>
      </p:pic>
      <p:pic>
        <p:nvPicPr>
          <p:cNvPr id="140" name="Google Shape;140;g3de0bba5dc9_0_0"/>
          <p:cNvPicPr preferRelativeResize="0"/>
          <p:nvPr/>
        </p:nvPicPr>
        <p:blipFill>
          <a:blip r:embed="rId6">
            <a:alphaModFix/>
          </a:blip>
          <a:stretch>
            <a:fillRect/>
          </a:stretch>
        </p:blipFill>
        <p:spPr>
          <a:xfrm>
            <a:off x="2924775" y="1563000"/>
            <a:ext cx="9267175" cy="5286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de0bba5dc9_0_16"/>
          <p:cNvSpPr/>
          <p:nvPr/>
        </p:nvSpPr>
        <p:spPr>
          <a:xfrm>
            <a:off x="2924783" y="6151124"/>
            <a:ext cx="1744500" cy="706800"/>
          </a:xfrm>
          <a:prstGeom prst="rect">
            <a:avLst/>
          </a:prstGeom>
          <a:solidFill>
            <a:srgbClr val="1184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6" name="Google Shape;146;g3de0bba5dc9_0_16"/>
          <p:cNvPicPr preferRelativeResize="0"/>
          <p:nvPr/>
        </p:nvPicPr>
        <p:blipFill rotWithShape="1">
          <a:blip r:embed="rId4">
            <a:alphaModFix/>
          </a:blip>
          <a:srcRect b="0" l="58299" r="0" t="17040"/>
          <a:stretch/>
        </p:blipFill>
        <p:spPr>
          <a:xfrm>
            <a:off x="9318262" y="1156207"/>
            <a:ext cx="2859935" cy="5689269"/>
          </a:xfrm>
          <a:prstGeom prst="rect">
            <a:avLst/>
          </a:prstGeom>
          <a:noFill/>
          <a:ln>
            <a:noFill/>
          </a:ln>
        </p:spPr>
      </p:pic>
      <p:sp>
        <p:nvSpPr>
          <p:cNvPr id="147" name="Google Shape;147;g3de0bba5dc9_0_16"/>
          <p:cNvSpPr/>
          <p:nvPr/>
        </p:nvSpPr>
        <p:spPr>
          <a:xfrm>
            <a:off x="-1" y="0"/>
            <a:ext cx="950100" cy="4157100"/>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8" name="Google Shape;148;g3de0bba5dc9_0_16"/>
          <p:cNvSpPr/>
          <p:nvPr/>
        </p:nvSpPr>
        <p:spPr>
          <a:xfrm>
            <a:off x="2924783" y="4177904"/>
            <a:ext cx="1744500" cy="1966500"/>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9" name="Google Shape;149;g3de0bba5dc9_0_16"/>
          <p:cNvPicPr preferRelativeResize="0"/>
          <p:nvPr/>
        </p:nvPicPr>
        <p:blipFill rotWithShape="1">
          <a:blip r:embed="rId5">
            <a:alphaModFix/>
          </a:blip>
          <a:srcRect b="0" l="62809" r="20458" t="52008"/>
          <a:stretch/>
        </p:blipFill>
        <p:spPr>
          <a:xfrm>
            <a:off x="-1" y="4177904"/>
            <a:ext cx="950069" cy="2694553"/>
          </a:xfrm>
          <a:prstGeom prst="rect">
            <a:avLst/>
          </a:prstGeom>
          <a:noFill/>
          <a:ln>
            <a:noFill/>
          </a:ln>
        </p:spPr>
      </p:pic>
      <p:sp>
        <p:nvSpPr>
          <p:cNvPr id="150" name="Google Shape;150;g3de0bba5dc9_0_16"/>
          <p:cNvSpPr txBox="1"/>
          <p:nvPr>
            <p:ph type="ctrTitle"/>
          </p:nvPr>
        </p:nvSpPr>
        <p:spPr>
          <a:xfrm>
            <a:off x="1160834" y="507561"/>
            <a:ext cx="3320400" cy="3461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Montserrat"/>
              <a:buNone/>
            </a:pPr>
            <a:r>
              <a:rPr lang="en-US" sz="4000"/>
              <a:t>Foundation UML</a:t>
            </a:r>
            <a:endParaRPr sz="4000"/>
          </a:p>
        </p:txBody>
      </p:sp>
      <p:sp>
        <p:nvSpPr>
          <p:cNvPr id="151" name="Google Shape;151;g3de0bba5dc9_0_16"/>
          <p:cNvSpPr txBox="1"/>
          <p:nvPr>
            <p:ph idx="1" type="subTitle"/>
          </p:nvPr>
        </p:nvSpPr>
        <p:spPr>
          <a:xfrm>
            <a:off x="1102468" y="4318862"/>
            <a:ext cx="1647300" cy="24126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Core functions are top priority</a:t>
            </a:r>
            <a:endParaRPr/>
          </a:p>
        </p:txBody>
      </p:sp>
      <p:cxnSp>
        <p:nvCxnSpPr>
          <p:cNvPr id="152" name="Google Shape;152;g3de0bba5dc9_0_16"/>
          <p:cNvCxnSpPr/>
          <p:nvPr/>
        </p:nvCxnSpPr>
        <p:spPr>
          <a:xfrm>
            <a:off x="4675761"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53" name="Google Shape;153;g3de0bba5dc9_0_16"/>
          <p:cNvCxnSpPr/>
          <p:nvPr/>
        </p:nvCxnSpPr>
        <p:spPr>
          <a:xfrm>
            <a:off x="0" y="4156953"/>
            <a:ext cx="4675800" cy="0"/>
          </a:xfrm>
          <a:prstGeom prst="straightConnector1">
            <a:avLst/>
          </a:prstGeom>
          <a:noFill/>
          <a:ln cap="flat" cmpd="sng" w="76200">
            <a:solidFill>
              <a:schemeClr val="dk1"/>
            </a:solidFill>
            <a:prstDash val="solid"/>
            <a:miter lim="800000"/>
            <a:headEnd len="sm" w="sm" type="none"/>
            <a:tailEnd len="sm" w="sm" type="none"/>
          </a:ln>
        </p:spPr>
      </p:cxnSp>
      <p:cxnSp>
        <p:nvCxnSpPr>
          <p:cNvPr id="154" name="Google Shape;154;g3de0bba5dc9_0_16"/>
          <p:cNvCxnSpPr/>
          <p:nvPr/>
        </p:nvCxnSpPr>
        <p:spPr>
          <a:xfrm>
            <a:off x="2924783" y="4163438"/>
            <a:ext cx="0" cy="2694600"/>
          </a:xfrm>
          <a:prstGeom prst="straightConnector1">
            <a:avLst/>
          </a:prstGeom>
          <a:noFill/>
          <a:ln cap="flat" cmpd="sng" w="76200">
            <a:solidFill>
              <a:schemeClr val="dk1"/>
            </a:solidFill>
            <a:prstDash val="solid"/>
            <a:miter lim="800000"/>
            <a:headEnd len="sm" w="sm" type="none"/>
            <a:tailEnd len="sm" w="sm" type="none"/>
          </a:ln>
        </p:spPr>
      </p:cxnSp>
      <p:cxnSp>
        <p:nvCxnSpPr>
          <p:cNvPr id="155" name="Google Shape;155;g3de0bba5dc9_0_16"/>
          <p:cNvCxnSpPr/>
          <p:nvPr/>
        </p:nvCxnSpPr>
        <p:spPr>
          <a:xfrm>
            <a:off x="2892356" y="6152745"/>
            <a:ext cx="1776900" cy="0"/>
          </a:xfrm>
          <a:prstGeom prst="straightConnector1">
            <a:avLst/>
          </a:prstGeom>
          <a:noFill/>
          <a:ln cap="flat" cmpd="sng" w="76200">
            <a:solidFill>
              <a:schemeClr val="dk1"/>
            </a:solidFill>
            <a:prstDash val="solid"/>
            <a:miter lim="800000"/>
            <a:headEnd len="sm" w="sm" type="none"/>
            <a:tailEnd len="sm" w="sm" type="none"/>
          </a:ln>
        </p:spPr>
      </p:cxnSp>
      <p:cxnSp>
        <p:nvCxnSpPr>
          <p:cNvPr id="156" name="Google Shape;156;g3de0bba5dc9_0_16"/>
          <p:cNvCxnSpPr/>
          <p:nvPr/>
        </p:nvCxnSpPr>
        <p:spPr>
          <a:xfrm rot="10800000">
            <a:off x="9267300" y="1129828"/>
            <a:ext cx="2924700" cy="0"/>
          </a:xfrm>
          <a:prstGeom prst="straightConnector1">
            <a:avLst/>
          </a:prstGeom>
          <a:noFill/>
          <a:ln cap="flat" cmpd="sng" w="76200">
            <a:solidFill>
              <a:schemeClr val="dk1"/>
            </a:solidFill>
            <a:prstDash val="solid"/>
            <a:miter lim="800000"/>
            <a:headEnd len="sm" w="sm" type="none"/>
            <a:tailEnd len="sm" w="sm" type="none"/>
          </a:ln>
        </p:spPr>
      </p:cxnSp>
      <p:cxnSp>
        <p:nvCxnSpPr>
          <p:cNvPr id="157" name="Google Shape;157;g3de0bba5dc9_0_16"/>
          <p:cNvCxnSpPr/>
          <p:nvPr/>
        </p:nvCxnSpPr>
        <p:spPr>
          <a:xfrm>
            <a:off x="9299643"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58" name="Google Shape;158;g3de0bba5dc9_0_16"/>
          <p:cNvCxnSpPr/>
          <p:nvPr/>
        </p:nvCxnSpPr>
        <p:spPr>
          <a:xfrm flipH="1">
            <a:off x="4708143" y="6144639"/>
            <a:ext cx="4591500" cy="6600"/>
          </a:xfrm>
          <a:prstGeom prst="straightConnector1">
            <a:avLst/>
          </a:prstGeom>
          <a:noFill/>
          <a:ln cap="flat" cmpd="sng" w="76200">
            <a:solidFill>
              <a:schemeClr val="dk1"/>
            </a:solidFill>
            <a:prstDash val="solid"/>
            <a:miter lim="800000"/>
            <a:headEnd len="sm" w="sm" type="none"/>
            <a:tailEnd len="sm" w="sm" type="none"/>
          </a:ln>
        </p:spPr>
      </p:cxnSp>
      <p:cxnSp>
        <p:nvCxnSpPr>
          <p:cNvPr id="159" name="Google Shape;159;g3de0bba5dc9_0_16"/>
          <p:cNvCxnSpPr/>
          <p:nvPr/>
        </p:nvCxnSpPr>
        <p:spPr>
          <a:xfrm>
            <a:off x="950069" y="0"/>
            <a:ext cx="0" cy="6858000"/>
          </a:xfrm>
          <a:prstGeom prst="straightConnector1">
            <a:avLst/>
          </a:prstGeom>
          <a:noFill/>
          <a:ln cap="flat" cmpd="sng" w="76200">
            <a:solidFill>
              <a:schemeClr val="dk1"/>
            </a:solidFill>
            <a:prstDash val="solid"/>
            <a:miter lim="800000"/>
            <a:headEnd len="sm" w="sm" type="none"/>
            <a:tailEnd len="sm" w="sm" type="none"/>
          </a:ln>
        </p:spPr>
      </p:cxnSp>
      <p:pic>
        <p:nvPicPr>
          <p:cNvPr id="160" name="Google Shape;160;g3de0bba5dc9_0_16"/>
          <p:cNvPicPr preferRelativeResize="0"/>
          <p:nvPr/>
        </p:nvPicPr>
        <p:blipFill rotWithShape="1">
          <a:blip r:embed="rId6">
            <a:alphaModFix/>
          </a:blip>
          <a:srcRect b="-5418" l="0" r="0" t="5817"/>
          <a:stretch/>
        </p:blipFill>
        <p:spPr>
          <a:xfrm>
            <a:off x="1443772" y="6284405"/>
            <a:ext cx="1006782" cy="573595"/>
          </a:xfrm>
          <a:prstGeom prst="rect">
            <a:avLst/>
          </a:prstGeom>
          <a:noFill/>
          <a:ln>
            <a:noFill/>
          </a:ln>
        </p:spPr>
      </p:pic>
      <p:pic>
        <p:nvPicPr>
          <p:cNvPr id="161" name="Google Shape;161;g3de0bba5dc9_0_16"/>
          <p:cNvPicPr preferRelativeResize="0"/>
          <p:nvPr/>
        </p:nvPicPr>
        <p:blipFill>
          <a:blip r:embed="rId7">
            <a:alphaModFix/>
          </a:blip>
          <a:stretch>
            <a:fillRect/>
          </a:stretch>
        </p:blipFill>
        <p:spPr>
          <a:xfrm>
            <a:off x="4718347" y="1129825"/>
            <a:ext cx="4532227" cy="30527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g3de0bba5dc9_0_38"/>
          <p:cNvPicPr preferRelativeResize="0"/>
          <p:nvPr/>
        </p:nvPicPr>
        <p:blipFill rotWithShape="1">
          <a:blip r:embed="rId4">
            <a:alphaModFix/>
          </a:blip>
          <a:srcRect b="0" l="0" r="0" t="8784"/>
          <a:stretch/>
        </p:blipFill>
        <p:spPr>
          <a:xfrm>
            <a:off x="4" y="0"/>
            <a:ext cx="4675801" cy="6857997"/>
          </a:xfrm>
          <a:prstGeom prst="rect">
            <a:avLst/>
          </a:prstGeom>
          <a:noFill/>
          <a:ln>
            <a:noFill/>
          </a:ln>
        </p:spPr>
      </p:pic>
      <p:sp>
        <p:nvSpPr>
          <p:cNvPr id="167" name="Google Shape;167;g3de0bba5dc9_0_38"/>
          <p:cNvSpPr/>
          <p:nvPr/>
        </p:nvSpPr>
        <p:spPr>
          <a:xfrm>
            <a:off x="0" y="5352153"/>
            <a:ext cx="4675800" cy="1505700"/>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 name="Google Shape;168;g3de0bba5dc9_0_38"/>
          <p:cNvSpPr txBox="1"/>
          <p:nvPr>
            <p:ph type="ctrTitle"/>
          </p:nvPr>
        </p:nvSpPr>
        <p:spPr>
          <a:xfrm>
            <a:off x="50775" y="846175"/>
            <a:ext cx="4551300" cy="2387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4348"/>
              <a:buFont typeface="Montserrat"/>
              <a:buNone/>
            </a:pPr>
            <a:r>
              <a:rPr lang="en-US" sz="4600">
                <a:solidFill>
                  <a:schemeClr val="lt1"/>
                </a:solidFill>
              </a:rPr>
              <a:t>Requirements</a:t>
            </a:r>
            <a:endParaRPr sz="4600">
              <a:solidFill>
                <a:schemeClr val="lt1"/>
              </a:solidFill>
            </a:endParaRPr>
          </a:p>
          <a:p>
            <a:pPr indent="0" lvl="0" marL="0" rtl="0" algn="l">
              <a:lnSpc>
                <a:spcPct val="90000"/>
              </a:lnSpc>
              <a:spcBef>
                <a:spcPts val="0"/>
              </a:spcBef>
              <a:spcAft>
                <a:spcPts val="0"/>
              </a:spcAft>
              <a:buClr>
                <a:schemeClr val="lt1"/>
              </a:buClr>
              <a:buSzPct val="104348"/>
              <a:buFont typeface="Montserrat"/>
              <a:buNone/>
            </a:pPr>
            <a:r>
              <a:rPr lang="en-US" sz="4600">
                <a:solidFill>
                  <a:schemeClr val="lt1"/>
                </a:solidFill>
              </a:rPr>
              <a:t>Developed</a:t>
            </a:r>
            <a:endParaRPr sz="4600">
              <a:solidFill>
                <a:schemeClr val="lt1"/>
              </a:solidFill>
            </a:endParaRPr>
          </a:p>
          <a:p>
            <a:pPr indent="0" lvl="0" marL="0" rtl="0" algn="l">
              <a:lnSpc>
                <a:spcPct val="90000"/>
              </a:lnSpc>
              <a:spcBef>
                <a:spcPts val="0"/>
              </a:spcBef>
              <a:spcAft>
                <a:spcPts val="0"/>
              </a:spcAft>
              <a:buClr>
                <a:schemeClr val="lt1"/>
              </a:buClr>
              <a:buSzPct val="104348"/>
              <a:buFont typeface="Montserrat"/>
              <a:buNone/>
            </a:pPr>
            <a:r>
              <a:rPr lang="en-US" sz="4600">
                <a:solidFill>
                  <a:schemeClr val="lt1"/>
                </a:solidFill>
              </a:rPr>
              <a:t>As the App was Built</a:t>
            </a:r>
            <a:endParaRPr sz="4600">
              <a:solidFill>
                <a:schemeClr val="lt1"/>
              </a:solidFill>
            </a:endParaRPr>
          </a:p>
        </p:txBody>
      </p:sp>
      <p:cxnSp>
        <p:nvCxnSpPr>
          <p:cNvPr id="169" name="Google Shape;169;g3de0bba5dc9_0_38"/>
          <p:cNvCxnSpPr/>
          <p:nvPr/>
        </p:nvCxnSpPr>
        <p:spPr>
          <a:xfrm>
            <a:off x="4675761"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70" name="Google Shape;170;g3de0bba5dc9_0_38"/>
          <p:cNvCxnSpPr/>
          <p:nvPr/>
        </p:nvCxnSpPr>
        <p:spPr>
          <a:xfrm>
            <a:off x="0" y="5352153"/>
            <a:ext cx="4675800" cy="0"/>
          </a:xfrm>
          <a:prstGeom prst="straightConnector1">
            <a:avLst/>
          </a:prstGeom>
          <a:noFill/>
          <a:ln cap="flat" cmpd="sng" w="76200">
            <a:solidFill>
              <a:schemeClr val="dk1"/>
            </a:solidFill>
            <a:prstDash val="solid"/>
            <a:miter lim="800000"/>
            <a:headEnd len="sm" w="sm" type="none"/>
            <a:tailEnd len="sm" w="sm" type="none"/>
          </a:ln>
        </p:spPr>
      </p:cxnSp>
      <p:pic>
        <p:nvPicPr>
          <p:cNvPr id="171" name="Google Shape;171;g3de0bba5dc9_0_38"/>
          <p:cNvPicPr preferRelativeResize="0"/>
          <p:nvPr/>
        </p:nvPicPr>
        <p:blipFill rotWithShape="1">
          <a:blip r:embed="rId5">
            <a:alphaModFix/>
          </a:blip>
          <a:srcRect b="10886" l="0" r="0" t="5822"/>
          <a:stretch/>
        </p:blipFill>
        <p:spPr>
          <a:xfrm>
            <a:off x="162689" y="6218491"/>
            <a:ext cx="1006782" cy="479649"/>
          </a:xfrm>
          <a:prstGeom prst="rect">
            <a:avLst/>
          </a:prstGeom>
          <a:noFill/>
          <a:ln>
            <a:noFill/>
          </a:ln>
        </p:spPr>
      </p:pic>
      <p:pic>
        <p:nvPicPr>
          <p:cNvPr id="172" name="Google Shape;172;g3de0bba5dc9_0_38"/>
          <p:cNvPicPr preferRelativeResize="0"/>
          <p:nvPr/>
        </p:nvPicPr>
        <p:blipFill>
          <a:blip r:embed="rId6">
            <a:alphaModFix/>
          </a:blip>
          <a:stretch>
            <a:fillRect/>
          </a:stretch>
        </p:blipFill>
        <p:spPr>
          <a:xfrm>
            <a:off x="4749425" y="147075"/>
            <a:ext cx="7442575" cy="60714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7"/>
          <p:cNvSpPr/>
          <p:nvPr/>
        </p:nvSpPr>
        <p:spPr>
          <a:xfrm>
            <a:off x="2924783" y="6151124"/>
            <a:ext cx="1744492" cy="706875"/>
          </a:xfrm>
          <a:prstGeom prst="rect">
            <a:avLst/>
          </a:prstGeom>
          <a:solidFill>
            <a:srgbClr val="1184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78" name="Google Shape;178;p7"/>
          <p:cNvPicPr preferRelativeResize="0"/>
          <p:nvPr/>
        </p:nvPicPr>
        <p:blipFill rotWithShape="1">
          <a:blip r:embed="rId4">
            <a:alphaModFix/>
          </a:blip>
          <a:srcRect b="0" l="58298" r="0" t="17042"/>
          <a:stretch/>
        </p:blipFill>
        <p:spPr>
          <a:xfrm>
            <a:off x="9318262" y="1156207"/>
            <a:ext cx="2859932" cy="5689267"/>
          </a:xfrm>
          <a:prstGeom prst="rect">
            <a:avLst/>
          </a:prstGeom>
          <a:noFill/>
          <a:ln>
            <a:noFill/>
          </a:ln>
        </p:spPr>
      </p:pic>
      <p:sp>
        <p:nvSpPr>
          <p:cNvPr id="179" name="Google Shape;179;p7"/>
          <p:cNvSpPr/>
          <p:nvPr/>
        </p:nvSpPr>
        <p:spPr>
          <a:xfrm>
            <a:off x="-1" y="0"/>
            <a:ext cx="950069" cy="4156953"/>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0" name="Google Shape;180;p7"/>
          <p:cNvSpPr/>
          <p:nvPr/>
        </p:nvSpPr>
        <p:spPr>
          <a:xfrm>
            <a:off x="2924783" y="4177904"/>
            <a:ext cx="1744492" cy="1966515"/>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81" name="Google Shape;181;p7"/>
          <p:cNvPicPr preferRelativeResize="0"/>
          <p:nvPr/>
        </p:nvPicPr>
        <p:blipFill rotWithShape="1">
          <a:blip r:embed="rId5">
            <a:alphaModFix/>
          </a:blip>
          <a:srcRect b="0" l="62809" r="20458" t="52009"/>
          <a:stretch/>
        </p:blipFill>
        <p:spPr>
          <a:xfrm>
            <a:off x="-1" y="4177904"/>
            <a:ext cx="950069" cy="2694553"/>
          </a:xfrm>
          <a:prstGeom prst="rect">
            <a:avLst/>
          </a:prstGeom>
          <a:noFill/>
          <a:ln>
            <a:noFill/>
          </a:ln>
        </p:spPr>
      </p:pic>
      <p:sp>
        <p:nvSpPr>
          <p:cNvPr id="182" name="Google Shape;182;p7"/>
          <p:cNvSpPr txBox="1"/>
          <p:nvPr>
            <p:ph type="ctrTitle"/>
          </p:nvPr>
        </p:nvSpPr>
        <p:spPr>
          <a:xfrm>
            <a:off x="1160834" y="507561"/>
            <a:ext cx="3320366" cy="3461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Montserrat"/>
              <a:buNone/>
            </a:pPr>
            <a:r>
              <a:rPr lang="en-US" sz="4000"/>
              <a:t>GUI </a:t>
            </a:r>
            <a:r>
              <a:rPr lang="en-US" sz="4000"/>
              <a:t>Wireframe</a:t>
            </a:r>
            <a:endParaRPr sz="4000"/>
          </a:p>
        </p:txBody>
      </p:sp>
      <p:sp>
        <p:nvSpPr>
          <p:cNvPr id="183" name="Google Shape;183;p7"/>
          <p:cNvSpPr txBox="1"/>
          <p:nvPr>
            <p:ph idx="1" type="subTitle"/>
          </p:nvPr>
        </p:nvSpPr>
        <p:spPr>
          <a:xfrm>
            <a:off x="1102468" y="4318862"/>
            <a:ext cx="1647210" cy="241263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Initial structure</a:t>
            </a:r>
            <a:endParaRPr/>
          </a:p>
        </p:txBody>
      </p:sp>
      <p:cxnSp>
        <p:nvCxnSpPr>
          <p:cNvPr id="184" name="Google Shape;184;p7"/>
          <p:cNvCxnSpPr/>
          <p:nvPr/>
        </p:nvCxnSpPr>
        <p:spPr>
          <a:xfrm>
            <a:off x="4675761"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85" name="Google Shape;185;p7"/>
          <p:cNvCxnSpPr/>
          <p:nvPr/>
        </p:nvCxnSpPr>
        <p:spPr>
          <a:xfrm>
            <a:off x="0" y="4156953"/>
            <a:ext cx="4675761" cy="0"/>
          </a:xfrm>
          <a:prstGeom prst="straightConnector1">
            <a:avLst/>
          </a:prstGeom>
          <a:noFill/>
          <a:ln cap="flat" cmpd="sng" w="76200">
            <a:solidFill>
              <a:schemeClr val="dk1"/>
            </a:solidFill>
            <a:prstDash val="solid"/>
            <a:miter lim="800000"/>
            <a:headEnd len="sm" w="sm" type="none"/>
            <a:tailEnd len="sm" w="sm" type="none"/>
          </a:ln>
        </p:spPr>
      </p:cxnSp>
      <p:cxnSp>
        <p:nvCxnSpPr>
          <p:cNvPr id="186" name="Google Shape;186;p7"/>
          <p:cNvCxnSpPr/>
          <p:nvPr/>
        </p:nvCxnSpPr>
        <p:spPr>
          <a:xfrm>
            <a:off x="2924783" y="4163438"/>
            <a:ext cx="0" cy="2694562"/>
          </a:xfrm>
          <a:prstGeom prst="straightConnector1">
            <a:avLst/>
          </a:prstGeom>
          <a:noFill/>
          <a:ln cap="flat" cmpd="sng" w="76200">
            <a:solidFill>
              <a:schemeClr val="dk1"/>
            </a:solidFill>
            <a:prstDash val="solid"/>
            <a:miter lim="800000"/>
            <a:headEnd len="sm" w="sm" type="none"/>
            <a:tailEnd len="sm" w="sm" type="none"/>
          </a:ln>
        </p:spPr>
      </p:cxnSp>
      <p:cxnSp>
        <p:nvCxnSpPr>
          <p:cNvPr id="187" name="Google Shape;187;p7"/>
          <p:cNvCxnSpPr/>
          <p:nvPr/>
        </p:nvCxnSpPr>
        <p:spPr>
          <a:xfrm>
            <a:off x="2892356" y="6152745"/>
            <a:ext cx="1776919" cy="0"/>
          </a:xfrm>
          <a:prstGeom prst="straightConnector1">
            <a:avLst/>
          </a:prstGeom>
          <a:noFill/>
          <a:ln cap="flat" cmpd="sng" w="76200">
            <a:solidFill>
              <a:schemeClr val="dk1"/>
            </a:solidFill>
            <a:prstDash val="solid"/>
            <a:miter lim="800000"/>
            <a:headEnd len="sm" w="sm" type="none"/>
            <a:tailEnd len="sm" w="sm" type="none"/>
          </a:ln>
        </p:spPr>
      </p:cxnSp>
      <p:cxnSp>
        <p:nvCxnSpPr>
          <p:cNvPr id="188" name="Google Shape;188;p7"/>
          <p:cNvCxnSpPr/>
          <p:nvPr/>
        </p:nvCxnSpPr>
        <p:spPr>
          <a:xfrm rot="10800000">
            <a:off x="9267216" y="1129828"/>
            <a:ext cx="2924784" cy="0"/>
          </a:xfrm>
          <a:prstGeom prst="straightConnector1">
            <a:avLst/>
          </a:prstGeom>
          <a:noFill/>
          <a:ln cap="flat" cmpd="sng" w="76200">
            <a:solidFill>
              <a:schemeClr val="dk1"/>
            </a:solidFill>
            <a:prstDash val="solid"/>
            <a:miter lim="800000"/>
            <a:headEnd len="sm" w="sm" type="none"/>
            <a:tailEnd len="sm" w="sm" type="none"/>
          </a:ln>
        </p:spPr>
      </p:cxnSp>
      <p:cxnSp>
        <p:nvCxnSpPr>
          <p:cNvPr id="189" name="Google Shape;189;p7"/>
          <p:cNvCxnSpPr/>
          <p:nvPr/>
        </p:nvCxnSpPr>
        <p:spPr>
          <a:xfrm>
            <a:off x="9299643"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190" name="Google Shape;190;p7"/>
          <p:cNvCxnSpPr/>
          <p:nvPr/>
        </p:nvCxnSpPr>
        <p:spPr>
          <a:xfrm flipH="1">
            <a:off x="4708187" y="6144639"/>
            <a:ext cx="4591456" cy="6485"/>
          </a:xfrm>
          <a:prstGeom prst="straightConnector1">
            <a:avLst/>
          </a:prstGeom>
          <a:noFill/>
          <a:ln cap="flat" cmpd="sng" w="76200">
            <a:solidFill>
              <a:schemeClr val="dk1"/>
            </a:solidFill>
            <a:prstDash val="solid"/>
            <a:miter lim="800000"/>
            <a:headEnd len="sm" w="sm" type="none"/>
            <a:tailEnd len="sm" w="sm" type="none"/>
          </a:ln>
        </p:spPr>
      </p:cxnSp>
      <p:cxnSp>
        <p:nvCxnSpPr>
          <p:cNvPr id="191" name="Google Shape;191;p7"/>
          <p:cNvCxnSpPr/>
          <p:nvPr/>
        </p:nvCxnSpPr>
        <p:spPr>
          <a:xfrm>
            <a:off x="950069" y="0"/>
            <a:ext cx="0" cy="6858000"/>
          </a:xfrm>
          <a:prstGeom prst="straightConnector1">
            <a:avLst/>
          </a:prstGeom>
          <a:noFill/>
          <a:ln cap="flat" cmpd="sng" w="76200">
            <a:solidFill>
              <a:schemeClr val="dk1"/>
            </a:solidFill>
            <a:prstDash val="solid"/>
            <a:miter lim="800000"/>
            <a:headEnd len="sm" w="sm" type="none"/>
            <a:tailEnd len="sm" w="sm" type="none"/>
          </a:ln>
        </p:spPr>
      </p:cxnSp>
      <p:pic>
        <p:nvPicPr>
          <p:cNvPr id="192" name="Google Shape;192;p7"/>
          <p:cNvPicPr preferRelativeResize="0"/>
          <p:nvPr/>
        </p:nvPicPr>
        <p:blipFill rotWithShape="1">
          <a:blip r:embed="rId6">
            <a:alphaModFix/>
          </a:blip>
          <a:srcRect b="-5423" l="0" r="0" t="5820"/>
          <a:stretch/>
        </p:blipFill>
        <p:spPr>
          <a:xfrm>
            <a:off x="1443772" y="6284405"/>
            <a:ext cx="1006782" cy="573595"/>
          </a:xfrm>
          <a:prstGeom prst="rect">
            <a:avLst/>
          </a:prstGeom>
          <a:noFill/>
          <a:ln>
            <a:noFill/>
          </a:ln>
        </p:spPr>
      </p:pic>
      <p:pic>
        <p:nvPicPr>
          <p:cNvPr id="193" name="Google Shape;193;p7"/>
          <p:cNvPicPr preferRelativeResize="0"/>
          <p:nvPr/>
        </p:nvPicPr>
        <p:blipFill>
          <a:blip r:embed="rId7">
            <a:alphaModFix/>
          </a:blip>
          <a:stretch>
            <a:fillRect/>
          </a:stretch>
        </p:blipFill>
        <p:spPr>
          <a:xfrm>
            <a:off x="4682225" y="0"/>
            <a:ext cx="4675750" cy="6144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g3d52980e9b2_0_116"/>
          <p:cNvSpPr/>
          <p:nvPr/>
        </p:nvSpPr>
        <p:spPr>
          <a:xfrm>
            <a:off x="0" y="0"/>
            <a:ext cx="2438400" cy="4328100"/>
          </a:xfrm>
          <a:prstGeom prst="rect">
            <a:avLst/>
          </a:prstGeom>
          <a:solidFill>
            <a:srgbClr val="F4F4F4"/>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 name="Google Shape;200;g3d52980e9b2_0_116"/>
          <p:cNvSpPr/>
          <p:nvPr/>
        </p:nvSpPr>
        <p:spPr>
          <a:xfrm>
            <a:off x="182880" y="1036320"/>
            <a:ext cx="2255700" cy="170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700"/>
              <a:buFont typeface="Calibri"/>
              <a:buNone/>
            </a:pPr>
            <a:r>
              <a:t/>
            </a:r>
            <a:endParaRPr b="0" i="0" sz="1700" u="none" cap="none" strike="noStrike">
              <a:solidFill>
                <a:schemeClr val="dk1"/>
              </a:solidFill>
              <a:latin typeface="Calibri"/>
              <a:ea typeface="Calibri"/>
              <a:cs typeface="Calibri"/>
              <a:sym typeface="Calibri"/>
            </a:endParaRPr>
          </a:p>
        </p:txBody>
      </p:sp>
      <p:sp>
        <p:nvSpPr>
          <p:cNvPr id="201" name="Google Shape;201;g3d52980e9b2_0_116"/>
          <p:cNvSpPr/>
          <p:nvPr/>
        </p:nvSpPr>
        <p:spPr>
          <a:xfrm>
            <a:off x="2438400" y="0"/>
            <a:ext cx="1219200" cy="4328100"/>
          </a:xfrm>
          <a:prstGeom prst="rect">
            <a:avLst/>
          </a:prstGeom>
          <a:solidFill>
            <a:srgbClr val="1E7A3C"/>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 name="Google Shape;202;g3d52980e9b2_0_116"/>
          <p:cNvSpPr/>
          <p:nvPr/>
        </p:nvSpPr>
        <p:spPr>
          <a:xfrm>
            <a:off x="0" y="4328160"/>
            <a:ext cx="4023300" cy="732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 name="Google Shape;203;g3d52980e9b2_0_116"/>
          <p:cNvSpPr/>
          <p:nvPr/>
        </p:nvSpPr>
        <p:spPr>
          <a:xfrm>
            <a:off x="0" y="4401312"/>
            <a:ext cx="2438400" cy="2462700"/>
          </a:xfrm>
          <a:prstGeom prst="rect">
            <a:avLst/>
          </a:prstGeom>
          <a:solidFill>
            <a:srgbClr val="FFFFFF"/>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 name="Google Shape;204;g3d52980e9b2_0_116"/>
          <p:cNvSpPr/>
          <p:nvPr/>
        </p:nvSpPr>
        <p:spPr>
          <a:xfrm>
            <a:off x="2438400" y="4401312"/>
            <a:ext cx="1219200" cy="853500"/>
          </a:xfrm>
          <a:prstGeom prst="rect">
            <a:avLst/>
          </a:prstGeom>
          <a:solidFill>
            <a:srgbClr val="FFFFFF"/>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 name="Google Shape;205;g3d52980e9b2_0_116"/>
          <p:cNvSpPr/>
          <p:nvPr/>
        </p:nvSpPr>
        <p:spPr>
          <a:xfrm>
            <a:off x="2438400" y="5254752"/>
            <a:ext cx="1219200" cy="1609200"/>
          </a:xfrm>
          <a:prstGeom prst="rect">
            <a:avLst/>
          </a:prstGeom>
          <a:solidFill>
            <a:srgbClr val="6BB64A"/>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 name="Google Shape;206;g3d52980e9b2_0_116"/>
          <p:cNvSpPr/>
          <p:nvPr/>
        </p:nvSpPr>
        <p:spPr>
          <a:xfrm>
            <a:off x="2401824" y="0"/>
            <a:ext cx="73200" cy="68580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7" name="Google Shape;207;g3d52980e9b2_0_116"/>
          <p:cNvSpPr/>
          <p:nvPr/>
        </p:nvSpPr>
        <p:spPr>
          <a:xfrm>
            <a:off x="3621024" y="0"/>
            <a:ext cx="73200" cy="68580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8" name="Google Shape;208;g3d52980e9b2_0_116"/>
          <p:cNvSpPr/>
          <p:nvPr/>
        </p:nvSpPr>
        <p:spPr>
          <a:xfrm>
            <a:off x="4023360" y="426720"/>
            <a:ext cx="7924800" cy="97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4300"/>
              <a:buFont typeface="Calibri"/>
              <a:buNone/>
            </a:pPr>
            <a:r>
              <a:rPr b="1" i="0" lang="en-US" sz="4300" u="none" cap="none" strike="noStrike">
                <a:solidFill>
                  <a:srgbClr val="1A1A1A"/>
                </a:solidFill>
                <a:latin typeface="Calibri"/>
                <a:ea typeface="Calibri"/>
                <a:cs typeface="Calibri"/>
                <a:sym typeface="Calibri"/>
              </a:rPr>
              <a:t>Outstanding Features</a:t>
            </a:r>
            <a:endParaRPr b="0" i="0" sz="4300" u="none" cap="none" strike="noStrike">
              <a:solidFill>
                <a:schemeClr val="dk1"/>
              </a:solidFill>
              <a:latin typeface="Calibri"/>
              <a:ea typeface="Calibri"/>
              <a:cs typeface="Calibri"/>
              <a:sym typeface="Calibri"/>
            </a:endParaRPr>
          </a:p>
        </p:txBody>
      </p:sp>
      <p:sp>
        <p:nvSpPr>
          <p:cNvPr id="209" name="Google Shape;209;g3d52980e9b2_0_116"/>
          <p:cNvSpPr/>
          <p:nvPr/>
        </p:nvSpPr>
        <p:spPr>
          <a:xfrm>
            <a:off x="4023360" y="1645920"/>
            <a:ext cx="7924800" cy="4815900"/>
          </a:xfrm>
          <a:prstGeom prst="rect">
            <a:avLst/>
          </a:prstGeom>
          <a:solidFill>
            <a:srgbClr val="FFFFFF"/>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0" name="Google Shape;210;g3d52980e9b2_0_116"/>
          <p:cNvSpPr/>
          <p:nvPr/>
        </p:nvSpPr>
        <p:spPr>
          <a:xfrm>
            <a:off x="4389120" y="2011680"/>
            <a:ext cx="853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7A3C"/>
              </a:buClr>
              <a:buSzPts val="2900"/>
              <a:buFont typeface="Calibri"/>
              <a:buNone/>
            </a:pPr>
            <a:r>
              <a:rPr b="1" i="0" lang="en-US" sz="2900" u="none" cap="none" strike="noStrike">
                <a:solidFill>
                  <a:srgbClr val="1E7A3C"/>
                </a:solidFill>
                <a:latin typeface="Calibri"/>
                <a:ea typeface="Calibri"/>
                <a:cs typeface="Calibri"/>
                <a:sym typeface="Calibri"/>
              </a:rPr>
              <a:t>01</a:t>
            </a:r>
            <a:endParaRPr b="0" i="0" sz="2900" u="none" cap="none" strike="noStrike">
              <a:solidFill>
                <a:schemeClr val="dk1"/>
              </a:solidFill>
              <a:latin typeface="Calibri"/>
              <a:ea typeface="Calibri"/>
              <a:cs typeface="Calibri"/>
              <a:sym typeface="Calibri"/>
            </a:endParaRPr>
          </a:p>
        </p:txBody>
      </p:sp>
      <p:sp>
        <p:nvSpPr>
          <p:cNvPr id="211" name="Google Shape;211;g3d52980e9b2_0_116"/>
          <p:cNvSpPr/>
          <p:nvPr/>
        </p:nvSpPr>
        <p:spPr>
          <a:xfrm>
            <a:off x="5242560" y="2048256"/>
            <a:ext cx="63399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300"/>
              <a:buFont typeface="Calibri"/>
              <a:buNone/>
            </a:pPr>
            <a:r>
              <a:rPr b="1" i="0" lang="en-US" sz="2300" u="none" cap="none" strike="noStrike">
                <a:solidFill>
                  <a:srgbClr val="1A1A1A"/>
                </a:solidFill>
                <a:latin typeface="Calibri"/>
                <a:ea typeface="Calibri"/>
                <a:cs typeface="Calibri"/>
                <a:sym typeface="Calibri"/>
              </a:rPr>
              <a:t>Smart Stats Dashboard</a:t>
            </a:r>
            <a:endParaRPr b="0" i="0" sz="2300" u="none" cap="none" strike="noStrike">
              <a:solidFill>
                <a:schemeClr val="dk1"/>
              </a:solidFill>
              <a:latin typeface="Calibri"/>
              <a:ea typeface="Calibri"/>
              <a:cs typeface="Calibri"/>
              <a:sym typeface="Calibri"/>
            </a:endParaRPr>
          </a:p>
        </p:txBody>
      </p:sp>
      <p:sp>
        <p:nvSpPr>
          <p:cNvPr id="212" name="Google Shape;212;g3d52980e9b2_0_116"/>
          <p:cNvSpPr/>
          <p:nvPr/>
        </p:nvSpPr>
        <p:spPr>
          <a:xfrm>
            <a:off x="5242560" y="2560320"/>
            <a:ext cx="6339900" cy="7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600"/>
              <a:buFont typeface="Calibri"/>
              <a:buNone/>
            </a:pPr>
            <a:r>
              <a:rPr b="0" i="0" lang="en-US" sz="1600" u="none" cap="none" strike="noStrike">
                <a:solidFill>
                  <a:srgbClr val="555555"/>
                </a:solidFill>
                <a:latin typeface="Calibri"/>
                <a:ea typeface="Calibri"/>
                <a:cs typeface="Calibri"/>
                <a:sym typeface="Calibri"/>
              </a:rPr>
              <a:t>Total, pending, completed, and auto-calculated overdue — pending tasks past their due date are flagged in real time.</a:t>
            </a:r>
            <a:endParaRPr b="0" i="0" sz="1600" u="none" cap="none" strike="noStrike">
              <a:solidFill>
                <a:schemeClr val="dk1"/>
              </a:solidFill>
              <a:latin typeface="Calibri"/>
              <a:ea typeface="Calibri"/>
              <a:cs typeface="Calibri"/>
              <a:sym typeface="Calibri"/>
            </a:endParaRPr>
          </a:p>
        </p:txBody>
      </p:sp>
      <p:cxnSp>
        <p:nvCxnSpPr>
          <p:cNvPr id="213" name="Google Shape;213;g3d52980e9b2_0_116"/>
          <p:cNvCxnSpPr/>
          <p:nvPr/>
        </p:nvCxnSpPr>
        <p:spPr>
          <a:xfrm>
            <a:off x="4389120" y="3328416"/>
            <a:ext cx="7193100" cy="0"/>
          </a:xfrm>
          <a:prstGeom prst="straightConnector1">
            <a:avLst/>
          </a:prstGeom>
          <a:noFill/>
          <a:ln cap="flat" cmpd="sng" w="12700">
            <a:solidFill>
              <a:srgbClr val="DDDDDD"/>
            </a:solidFill>
            <a:prstDash val="solid"/>
            <a:round/>
            <a:headEnd len="sm" w="sm" type="none"/>
            <a:tailEnd len="sm" w="sm" type="none"/>
          </a:ln>
        </p:spPr>
      </p:cxnSp>
      <p:sp>
        <p:nvSpPr>
          <p:cNvPr id="214" name="Google Shape;214;g3d52980e9b2_0_116"/>
          <p:cNvSpPr/>
          <p:nvPr/>
        </p:nvSpPr>
        <p:spPr>
          <a:xfrm>
            <a:off x="4389120" y="3413760"/>
            <a:ext cx="853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7A3C"/>
              </a:buClr>
              <a:buSzPts val="2900"/>
              <a:buFont typeface="Calibri"/>
              <a:buNone/>
            </a:pPr>
            <a:r>
              <a:rPr b="1" i="0" lang="en-US" sz="2900" u="none" cap="none" strike="noStrike">
                <a:solidFill>
                  <a:srgbClr val="1E7A3C"/>
                </a:solidFill>
                <a:latin typeface="Calibri"/>
                <a:ea typeface="Calibri"/>
                <a:cs typeface="Calibri"/>
                <a:sym typeface="Calibri"/>
              </a:rPr>
              <a:t>02</a:t>
            </a:r>
            <a:endParaRPr b="0" i="0" sz="2900" u="none" cap="none" strike="noStrike">
              <a:solidFill>
                <a:schemeClr val="dk1"/>
              </a:solidFill>
              <a:latin typeface="Calibri"/>
              <a:ea typeface="Calibri"/>
              <a:cs typeface="Calibri"/>
              <a:sym typeface="Calibri"/>
            </a:endParaRPr>
          </a:p>
        </p:txBody>
      </p:sp>
      <p:sp>
        <p:nvSpPr>
          <p:cNvPr id="215" name="Google Shape;215;g3d52980e9b2_0_116"/>
          <p:cNvSpPr/>
          <p:nvPr/>
        </p:nvSpPr>
        <p:spPr>
          <a:xfrm>
            <a:off x="5242560" y="3450336"/>
            <a:ext cx="63399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300"/>
              <a:buFont typeface="Calibri"/>
              <a:buNone/>
            </a:pPr>
            <a:r>
              <a:rPr b="1" i="0" lang="en-US" sz="2300" u="none" cap="none" strike="noStrike">
                <a:solidFill>
                  <a:srgbClr val="1A1A1A"/>
                </a:solidFill>
                <a:latin typeface="Calibri"/>
                <a:ea typeface="Calibri"/>
                <a:cs typeface="Calibri"/>
                <a:sym typeface="Calibri"/>
              </a:rPr>
              <a:t>Filtering &amp; Sorting</a:t>
            </a:r>
            <a:endParaRPr b="0" i="0" sz="2300" u="none" cap="none" strike="noStrike">
              <a:solidFill>
                <a:schemeClr val="dk1"/>
              </a:solidFill>
              <a:latin typeface="Calibri"/>
              <a:ea typeface="Calibri"/>
              <a:cs typeface="Calibri"/>
              <a:sym typeface="Calibri"/>
            </a:endParaRPr>
          </a:p>
        </p:txBody>
      </p:sp>
      <p:sp>
        <p:nvSpPr>
          <p:cNvPr id="216" name="Google Shape;216;g3d52980e9b2_0_116"/>
          <p:cNvSpPr/>
          <p:nvPr/>
        </p:nvSpPr>
        <p:spPr>
          <a:xfrm>
            <a:off x="5242560" y="3962400"/>
            <a:ext cx="6339900" cy="7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600"/>
              <a:buFont typeface="Calibri"/>
              <a:buNone/>
            </a:pPr>
            <a:r>
              <a:rPr b="0" i="0" lang="en-US" sz="1600" u="none" cap="none" strike="noStrike">
                <a:solidFill>
                  <a:srgbClr val="555555"/>
                </a:solidFill>
                <a:latin typeface="Calibri"/>
                <a:ea typeface="Calibri"/>
                <a:cs typeface="Calibri"/>
                <a:sym typeface="Calibri"/>
              </a:rPr>
              <a:t>Filter by status and priority simultaneously, sort by id, priority, due date, or title — all composable on the URL.</a:t>
            </a:r>
            <a:endParaRPr b="0" i="0" sz="1600" u="none" cap="none" strike="noStrike">
              <a:solidFill>
                <a:schemeClr val="dk1"/>
              </a:solidFill>
              <a:latin typeface="Calibri"/>
              <a:ea typeface="Calibri"/>
              <a:cs typeface="Calibri"/>
              <a:sym typeface="Calibri"/>
            </a:endParaRPr>
          </a:p>
        </p:txBody>
      </p:sp>
      <p:cxnSp>
        <p:nvCxnSpPr>
          <p:cNvPr id="217" name="Google Shape;217;g3d52980e9b2_0_116"/>
          <p:cNvCxnSpPr/>
          <p:nvPr/>
        </p:nvCxnSpPr>
        <p:spPr>
          <a:xfrm>
            <a:off x="4389120" y="4730496"/>
            <a:ext cx="7193100" cy="0"/>
          </a:xfrm>
          <a:prstGeom prst="straightConnector1">
            <a:avLst/>
          </a:prstGeom>
          <a:noFill/>
          <a:ln cap="flat" cmpd="sng" w="12700">
            <a:solidFill>
              <a:srgbClr val="DDDDDD"/>
            </a:solidFill>
            <a:prstDash val="solid"/>
            <a:round/>
            <a:headEnd len="sm" w="sm" type="none"/>
            <a:tailEnd len="sm" w="sm" type="none"/>
          </a:ln>
        </p:spPr>
      </p:cxnSp>
      <p:sp>
        <p:nvSpPr>
          <p:cNvPr id="218" name="Google Shape;218;g3d52980e9b2_0_116"/>
          <p:cNvSpPr/>
          <p:nvPr/>
        </p:nvSpPr>
        <p:spPr>
          <a:xfrm>
            <a:off x="4389120" y="4815840"/>
            <a:ext cx="853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7A3C"/>
              </a:buClr>
              <a:buSzPts val="2900"/>
              <a:buFont typeface="Calibri"/>
              <a:buNone/>
            </a:pPr>
            <a:r>
              <a:rPr b="1" i="0" lang="en-US" sz="2900" u="none" cap="none" strike="noStrike">
                <a:solidFill>
                  <a:srgbClr val="1E7A3C"/>
                </a:solidFill>
                <a:latin typeface="Calibri"/>
                <a:ea typeface="Calibri"/>
                <a:cs typeface="Calibri"/>
                <a:sym typeface="Calibri"/>
              </a:rPr>
              <a:t>03</a:t>
            </a:r>
            <a:endParaRPr b="0" i="0" sz="2900" u="none" cap="none" strike="noStrike">
              <a:solidFill>
                <a:schemeClr val="dk1"/>
              </a:solidFill>
              <a:latin typeface="Calibri"/>
              <a:ea typeface="Calibri"/>
              <a:cs typeface="Calibri"/>
              <a:sym typeface="Calibri"/>
            </a:endParaRPr>
          </a:p>
        </p:txBody>
      </p:sp>
      <p:sp>
        <p:nvSpPr>
          <p:cNvPr id="219" name="Google Shape;219;g3d52980e9b2_0_116"/>
          <p:cNvSpPr/>
          <p:nvPr/>
        </p:nvSpPr>
        <p:spPr>
          <a:xfrm>
            <a:off x="5242560" y="4852416"/>
            <a:ext cx="63399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300"/>
              <a:buFont typeface="Calibri"/>
              <a:buNone/>
            </a:pPr>
            <a:r>
              <a:rPr b="1" i="0" lang="en-US" sz="2300" u="none" cap="none" strike="noStrike">
                <a:solidFill>
                  <a:srgbClr val="1A1A1A"/>
                </a:solidFill>
                <a:latin typeface="Calibri"/>
                <a:ea typeface="Calibri"/>
                <a:cs typeface="Calibri"/>
                <a:sym typeface="Calibri"/>
              </a:rPr>
              <a:t>Per-user Auth &amp; Isolation</a:t>
            </a:r>
            <a:endParaRPr b="0" i="0" sz="2300" u="none" cap="none" strike="noStrike">
              <a:solidFill>
                <a:schemeClr val="dk1"/>
              </a:solidFill>
              <a:latin typeface="Calibri"/>
              <a:ea typeface="Calibri"/>
              <a:cs typeface="Calibri"/>
              <a:sym typeface="Calibri"/>
            </a:endParaRPr>
          </a:p>
        </p:txBody>
      </p:sp>
      <p:sp>
        <p:nvSpPr>
          <p:cNvPr id="220" name="Google Shape;220;g3d52980e9b2_0_116"/>
          <p:cNvSpPr/>
          <p:nvPr/>
        </p:nvSpPr>
        <p:spPr>
          <a:xfrm>
            <a:off x="5242560" y="5364480"/>
            <a:ext cx="6339900" cy="7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600"/>
              <a:buFont typeface="Calibri"/>
              <a:buNone/>
            </a:pPr>
            <a:r>
              <a:rPr b="0" i="0" lang="en-US" sz="1600" u="none" cap="none" strike="noStrike">
                <a:solidFill>
                  <a:srgbClr val="555555"/>
                </a:solidFill>
                <a:latin typeface="Calibri"/>
                <a:ea typeface="Calibri"/>
                <a:cs typeface="Calibri"/>
                <a:sym typeface="Calibri"/>
              </a:rPr>
              <a:t>Full signup and login flow. Every task is scoped to the logged-in user — users never see each other's data.</a:t>
            </a:r>
            <a:endParaRPr b="0" i="0" sz="1600" u="none" cap="none" strike="noStrike">
              <a:solidFill>
                <a:schemeClr val="dk1"/>
              </a:solidFill>
              <a:latin typeface="Calibri"/>
              <a:ea typeface="Calibri"/>
              <a:cs typeface="Calibri"/>
              <a:sym typeface="Calibri"/>
            </a:endParaRPr>
          </a:p>
        </p:txBody>
      </p:sp>
      <p:sp>
        <p:nvSpPr>
          <p:cNvPr id="221" name="Google Shape;221;g3d52980e9b2_0_116"/>
          <p:cNvSpPr/>
          <p:nvPr/>
        </p:nvSpPr>
        <p:spPr>
          <a:xfrm>
            <a:off x="10728960" y="6486144"/>
            <a:ext cx="11583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500"/>
              <a:buFont typeface="Calibri"/>
              <a:buNone/>
            </a:pPr>
            <a:r>
              <a:rPr b="1" i="0" lang="en-US" sz="1500" u="none" cap="none" strike="noStrike">
                <a:solidFill>
                  <a:srgbClr val="1A1A1A"/>
                </a:solidFill>
                <a:latin typeface="Calibri"/>
                <a:ea typeface="Calibri"/>
                <a:cs typeface="Calibri"/>
                <a:sym typeface="Calibri"/>
              </a:rPr>
              <a:t>UVU</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g3d52980e9b2_0_145"/>
          <p:cNvSpPr/>
          <p:nvPr/>
        </p:nvSpPr>
        <p:spPr>
          <a:xfrm>
            <a:off x="0" y="0"/>
            <a:ext cx="2438400" cy="4328100"/>
          </a:xfrm>
          <a:prstGeom prst="rect">
            <a:avLst/>
          </a:prstGeom>
          <a:solidFill>
            <a:srgbClr val="F4F4F4"/>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8" name="Google Shape;228;g3d52980e9b2_0_145"/>
          <p:cNvSpPr/>
          <p:nvPr/>
        </p:nvSpPr>
        <p:spPr>
          <a:xfrm>
            <a:off x="182880" y="1036320"/>
            <a:ext cx="2255700" cy="170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700"/>
              <a:buFont typeface="Calibri"/>
              <a:buNone/>
            </a:pPr>
            <a:r>
              <a:t/>
            </a:r>
            <a:endParaRPr b="0" i="0" sz="1700" u="none" cap="none" strike="noStrike">
              <a:solidFill>
                <a:schemeClr val="dk1"/>
              </a:solidFill>
              <a:latin typeface="Calibri"/>
              <a:ea typeface="Calibri"/>
              <a:cs typeface="Calibri"/>
              <a:sym typeface="Calibri"/>
            </a:endParaRPr>
          </a:p>
        </p:txBody>
      </p:sp>
      <p:sp>
        <p:nvSpPr>
          <p:cNvPr id="229" name="Google Shape;229;g3d52980e9b2_0_145"/>
          <p:cNvSpPr/>
          <p:nvPr/>
        </p:nvSpPr>
        <p:spPr>
          <a:xfrm>
            <a:off x="2438400" y="0"/>
            <a:ext cx="1219200" cy="4328100"/>
          </a:xfrm>
          <a:prstGeom prst="rect">
            <a:avLst/>
          </a:prstGeom>
          <a:solidFill>
            <a:srgbClr val="1E7A3C"/>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g3d52980e9b2_0_145"/>
          <p:cNvSpPr/>
          <p:nvPr/>
        </p:nvSpPr>
        <p:spPr>
          <a:xfrm>
            <a:off x="0" y="4328160"/>
            <a:ext cx="4023300" cy="732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1" name="Google Shape;231;g3d52980e9b2_0_145"/>
          <p:cNvSpPr/>
          <p:nvPr/>
        </p:nvSpPr>
        <p:spPr>
          <a:xfrm>
            <a:off x="0" y="4401312"/>
            <a:ext cx="2438400" cy="2462700"/>
          </a:xfrm>
          <a:prstGeom prst="rect">
            <a:avLst/>
          </a:prstGeom>
          <a:solidFill>
            <a:srgbClr val="FFFFFF"/>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2" name="Google Shape;232;g3d52980e9b2_0_145"/>
          <p:cNvSpPr/>
          <p:nvPr/>
        </p:nvSpPr>
        <p:spPr>
          <a:xfrm>
            <a:off x="2438400" y="4401312"/>
            <a:ext cx="1219200" cy="853500"/>
          </a:xfrm>
          <a:prstGeom prst="rect">
            <a:avLst/>
          </a:prstGeom>
          <a:solidFill>
            <a:srgbClr val="FFFFFF"/>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3" name="Google Shape;233;g3d52980e9b2_0_145"/>
          <p:cNvSpPr/>
          <p:nvPr/>
        </p:nvSpPr>
        <p:spPr>
          <a:xfrm>
            <a:off x="2438400" y="5254752"/>
            <a:ext cx="1219200" cy="1609200"/>
          </a:xfrm>
          <a:prstGeom prst="rect">
            <a:avLst/>
          </a:prstGeom>
          <a:solidFill>
            <a:srgbClr val="6BB64A"/>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4" name="Google Shape;234;g3d52980e9b2_0_145"/>
          <p:cNvSpPr/>
          <p:nvPr/>
        </p:nvSpPr>
        <p:spPr>
          <a:xfrm>
            <a:off x="2401824" y="0"/>
            <a:ext cx="73200" cy="68580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5" name="Google Shape;235;g3d52980e9b2_0_145"/>
          <p:cNvSpPr/>
          <p:nvPr/>
        </p:nvSpPr>
        <p:spPr>
          <a:xfrm>
            <a:off x="3621024" y="0"/>
            <a:ext cx="73200" cy="68580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g3d52980e9b2_0_145"/>
          <p:cNvSpPr/>
          <p:nvPr/>
        </p:nvSpPr>
        <p:spPr>
          <a:xfrm>
            <a:off x="4023360" y="426720"/>
            <a:ext cx="7924800" cy="97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4300"/>
              <a:buFont typeface="Calibri"/>
              <a:buNone/>
            </a:pPr>
            <a:r>
              <a:rPr b="1" i="0" lang="en-US" sz="4300" u="none" cap="none" strike="noStrike">
                <a:solidFill>
                  <a:srgbClr val="1A1A1A"/>
                </a:solidFill>
                <a:latin typeface="Calibri"/>
                <a:ea typeface="Calibri"/>
                <a:cs typeface="Calibri"/>
                <a:sym typeface="Calibri"/>
              </a:rPr>
              <a:t>Engineering Practices</a:t>
            </a:r>
            <a:endParaRPr b="0" i="0" sz="4300" u="none" cap="none" strike="noStrike">
              <a:solidFill>
                <a:schemeClr val="dk1"/>
              </a:solidFill>
              <a:latin typeface="Calibri"/>
              <a:ea typeface="Calibri"/>
              <a:cs typeface="Calibri"/>
              <a:sym typeface="Calibri"/>
            </a:endParaRPr>
          </a:p>
        </p:txBody>
      </p:sp>
      <p:sp>
        <p:nvSpPr>
          <p:cNvPr id="237" name="Google Shape;237;g3d52980e9b2_0_145"/>
          <p:cNvSpPr/>
          <p:nvPr/>
        </p:nvSpPr>
        <p:spPr>
          <a:xfrm>
            <a:off x="4023360" y="1645920"/>
            <a:ext cx="7924800" cy="4815900"/>
          </a:xfrm>
          <a:prstGeom prst="rect">
            <a:avLst/>
          </a:prstGeom>
          <a:solidFill>
            <a:srgbClr val="FFFFFF"/>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8" name="Google Shape;238;g3d52980e9b2_0_145"/>
          <p:cNvSpPr/>
          <p:nvPr/>
        </p:nvSpPr>
        <p:spPr>
          <a:xfrm>
            <a:off x="4389120" y="2011680"/>
            <a:ext cx="853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7A3C"/>
              </a:buClr>
              <a:buSzPts val="2900"/>
              <a:buFont typeface="Calibri"/>
              <a:buNone/>
            </a:pPr>
            <a:r>
              <a:rPr b="1" i="0" lang="en-US" sz="2900" u="none" cap="none" strike="noStrike">
                <a:solidFill>
                  <a:srgbClr val="1E7A3C"/>
                </a:solidFill>
                <a:latin typeface="Calibri"/>
                <a:ea typeface="Calibri"/>
                <a:cs typeface="Calibri"/>
                <a:sym typeface="Calibri"/>
              </a:rPr>
              <a:t>01</a:t>
            </a:r>
            <a:endParaRPr b="0" i="0" sz="2900" u="none" cap="none" strike="noStrike">
              <a:solidFill>
                <a:schemeClr val="dk1"/>
              </a:solidFill>
              <a:latin typeface="Calibri"/>
              <a:ea typeface="Calibri"/>
              <a:cs typeface="Calibri"/>
              <a:sym typeface="Calibri"/>
            </a:endParaRPr>
          </a:p>
        </p:txBody>
      </p:sp>
      <p:sp>
        <p:nvSpPr>
          <p:cNvPr id="239" name="Google Shape;239;g3d52980e9b2_0_145"/>
          <p:cNvSpPr/>
          <p:nvPr/>
        </p:nvSpPr>
        <p:spPr>
          <a:xfrm>
            <a:off x="5242560" y="2048256"/>
            <a:ext cx="63399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300"/>
              <a:buFont typeface="Calibri"/>
              <a:buNone/>
            </a:pPr>
            <a:r>
              <a:rPr b="1" i="0" lang="en-US" sz="2300" u="none" cap="none" strike="noStrike">
                <a:solidFill>
                  <a:srgbClr val="1A1A1A"/>
                </a:solidFill>
                <a:latin typeface="Calibri"/>
                <a:ea typeface="Calibri"/>
                <a:cs typeface="Calibri"/>
                <a:sym typeface="Calibri"/>
              </a:rPr>
              <a:t>JSON → Django ORM Migration</a:t>
            </a:r>
            <a:endParaRPr b="0" i="0" sz="2300" u="none" cap="none" strike="noStrike">
              <a:solidFill>
                <a:schemeClr val="dk1"/>
              </a:solidFill>
              <a:latin typeface="Calibri"/>
              <a:ea typeface="Calibri"/>
              <a:cs typeface="Calibri"/>
              <a:sym typeface="Calibri"/>
            </a:endParaRPr>
          </a:p>
        </p:txBody>
      </p:sp>
      <p:sp>
        <p:nvSpPr>
          <p:cNvPr id="240" name="Google Shape;240;g3d52980e9b2_0_145"/>
          <p:cNvSpPr/>
          <p:nvPr/>
        </p:nvSpPr>
        <p:spPr>
          <a:xfrm>
            <a:off x="5242560" y="2560320"/>
            <a:ext cx="6339900" cy="7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600"/>
              <a:buFont typeface="Calibri"/>
              <a:buNone/>
            </a:pPr>
            <a:r>
              <a:rPr b="0" i="0" lang="en-US" sz="1600" u="none" cap="none" strike="noStrike">
                <a:solidFill>
                  <a:srgbClr val="555555"/>
                </a:solidFill>
                <a:latin typeface="Calibri"/>
                <a:ea typeface="Calibri"/>
                <a:cs typeface="Calibri"/>
                <a:sym typeface="Calibri"/>
              </a:rPr>
              <a:t>Started with JSON file storage, migrated to Django ORM + SQLite when we needed real multi-user support, auth, and integrity guarantees.</a:t>
            </a:r>
            <a:endParaRPr b="0" i="0" sz="1600" u="none" cap="none" strike="noStrike">
              <a:solidFill>
                <a:schemeClr val="dk1"/>
              </a:solidFill>
              <a:latin typeface="Calibri"/>
              <a:ea typeface="Calibri"/>
              <a:cs typeface="Calibri"/>
              <a:sym typeface="Calibri"/>
            </a:endParaRPr>
          </a:p>
        </p:txBody>
      </p:sp>
      <p:cxnSp>
        <p:nvCxnSpPr>
          <p:cNvPr id="241" name="Google Shape;241;g3d52980e9b2_0_145"/>
          <p:cNvCxnSpPr/>
          <p:nvPr/>
        </p:nvCxnSpPr>
        <p:spPr>
          <a:xfrm>
            <a:off x="4389120" y="3328416"/>
            <a:ext cx="7193100" cy="0"/>
          </a:xfrm>
          <a:prstGeom prst="straightConnector1">
            <a:avLst/>
          </a:prstGeom>
          <a:noFill/>
          <a:ln cap="flat" cmpd="sng" w="12700">
            <a:solidFill>
              <a:srgbClr val="DDDDDD"/>
            </a:solidFill>
            <a:prstDash val="solid"/>
            <a:round/>
            <a:headEnd len="sm" w="sm" type="none"/>
            <a:tailEnd len="sm" w="sm" type="none"/>
          </a:ln>
        </p:spPr>
      </p:cxnSp>
      <p:sp>
        <p:nvSpPr>
          <p:cNvPr id="242" name="Google Shape;242;g3d52980e9b2_0_145"/>
          <p:cNvSpPr/>
          <p:nvPr/>
        </p:nvSpPr>
        <p:spPr>
          <a:xfrm>
            <a:off x="4389120" y="3413760"/>
            <a:ext cx="853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7A3C"/>
              </a:buClr>
              <a:buSzPts val="2900"/>
              <a:buFont typeface="Calibri"/>
              <a:buNone/>
            </a:pPr>
            <a:r>
              <a:rPr b="1" i="0" lang="en-US" sz="2900" u="none" cap="none" strike="noStrike">
                <a:solidFill>
                  <a:srgbClr val="1E7A3C"/>
                </a:solidFill>
                <a:latin typeface="Calibri"/>
                <a:ea typeface="Calibri"/>
                <a:cs typeface="Calibri"/>
                <a:sym typeface="Calibri"/>
              </a:rPr>
              <a:t>02</a:t>
            </a:r>
            <a:endParaRPr b="0" i="0" sz="2900" u="none" cap="none" strike="noStrike">
              <a:solidFill>
                <a:schemeClr val="dk1"/>
              </a:solidFill>
              <a:latin typeface="Calibri"/>
              <a:ea typeface="Calibri"/>
              <a:cs typeface="Calibri"/>
              <a:sym typeface="Calibri"/>
            </a:endParaRPr>
          </a:p>
        </p:txBody>
      </p:sp>
      <p:sp>
        <p:nvSpPr>
          <p:cNvPr id="243" name="Google Shape;243;g3d52980e9b2_0_145"/>
          <p:cNvSpPr/>
          <p:nvPr/>
        </p:nvSpPr>
        <p:spPr>
          <a:xfrm>
            <a:off x="5242560" y="3450336"/>
            <a:ext cx="63399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300"/>
              <a:buFont typeface="Calibri"/>
              <a:buNone/>
            </a:pPr>
            <a:r>
              <a:rPr b="1" i="0" lang="en-US" sz="2300" u="none" cap="none" strike="noStrike">
                <a:solidFill>
                  <a:srgbClr val="1A1A1A"/>
                </a:solidFill>
                <a:latin typeface="Calibri"/>
                <a:ea typeface="Calibri"/>
                <a:cs typeface="Calibri"/>
                <a:sym typeface="Calibri"/>
              </a:rPr>
              <a:t>Defense-in-depth Validation</a:t>
            </a:r>
            <a:endParaRPr b="0" i="0" sz="2300" u="none" cap="none" strike="noStrike">
              <a:solidFill>
                <a:schemeClr val="dk1"/>
              </a:solidFill>
              <a:latin typeface="Calibri"/>
              <a:ea typeface="Calibri"/>
              <a:cs typeface="Calibri"/>
              <a:sym typeface="Calibri"/>
            </a:endParaRPr>
          </a:p>
        </p:txBody>
      </p:sp>
      <p:sp>
        <p:nvSpPr>
          <p:cNvPr id="244" name="Google Shape;244;g3d52980e9b2_0_145"/>
          <p:cNvSpPr/>
          <p:nvPr/>
        </p:nvSpPr>
        <p:spPr>
          <a:xfrm>
            <a:off x="5242560" y="3962400"/>
            <a:ext cx="6339900" cy="7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600"/>
              <a:buFont typeface="Calibri"/>
              <a:buNone/>
            </a:pPr>
            <a:r>
              <a:rPr b="0" i="0" lang="en-US" sz="1600" u="none" cap="none" strike="noStrike">
                <a:solidFill>
                  <a:srgbClr val="555555"/>
                </a:solidFill>
                <a:latin typeface="Calibri"/>
                <a:ea typeface="Calibri"/>
                <a:cs typeface="Calibri"/>
                <a:sym typeface="Calibri"/>
              </a:rPr>
              <a:t>Task.save() calls full_clean() — invalid data never hits the DB, even if a view forgets to validate.</a:t>
            </a:r>
            <a:endParaRPr b="0" i="0" sz="1600" u="none" cap="none" strike="noStrike">
              <a:solidFill>
                <a:schemeClr val="dk1"/>
              </a:solidFill>
              <a:latin typeface="Calibri"/>
              <a:ea typeface="Calibri"/>
              <a:cs typeface="Calibri"/>
              <a:sym typeface="Calibri"/>
            </a:endParaRPr>
          </a:p>
        </p:txBody>
      </p:sp>
      <p:cxnSp>
        <p:nvCxnSpPr>
          <p:cNvPr id="245" name="Google Shape;245;g3d52980e9b2_0_145"/>
          <p:cNvCxnSpPr/>
          <p:nvPr/>
        </p:nvCxnSpPr>
        <p:spPr>
          <a:xfrm>
            <a:off x="4389120" y="4730496"/>
            <a:ext cx="7193100" cy="0"/>
          </a:xfrm>
          <a:prstGeom prst="straightConnector1">
            <a:avLst/>
          </a:prstGeom>
          <a:noFill/>
          <a:ln cap="flat" cmpd="sng" w="12700">
            <a:solidFill>
              <a:srgbClr val="DDDDDD"/>
            </a:solidFill>
            <a:prstDash val="solid"/>
            <a:round/>
            <a:headEnd len="sm" w="sm" type="none"/>
            <a:tailEnd len="sm" w="sm" type="none"/>
          </a:ln>
        </p:spPr>
      </p:cxnSp>
      <p:sp>
        <p:nvSpPr>
          <p:cNvPr id="246" name="Google Shape;246;g3d52980e9b2_0_145"/>
          <p:cNvSpPr/>
          <p:nvPr/>
        </p:nvSpPr>
        <p:spPr>
          <a:xfrm>
            <a:off x="4389120" y="4815840"/>
            <a:ext cx="853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7A3C"/>
              </a:buClr>
              <a:buSzPts val="2900"/>
              <a:buFont typeface="Calibri"/>
              <a:buNone/>
            </a:pPr>
            <a:r>
              <a:rPr b="1" i="0" lang="en-US" sz="2900" u="none" cap="none" strike="noStrike">
                <a:solidFill>
                  <a:srgbClr val="1E7A3C"/>
                </a:solidFill>
                <a:latin typeface="Calibri"/>
                <a:ea typeface="Calibri"/>
                <a:cs typeface="Calibri"/>
                <a:sym typeface="Calibri"/>
              </a:rPr>
              <a:t>03</a:t>
            </a:r>
            <a:endParaRPr b="0" i="0" sz="2900" u="none" cap="none" strike="noStrike">
              <a:solidFill>
                <a:schemeClr val="dk1"/>
              </a:solidFill>
              <a:latin typeface="Calibri"/>
              <a:ea typeface="Calibri"/>
              <a:cs typeface="Calibri"/>
              <a:sym typeface="Calibri"/>
            </a:endParaRPr>
          </a:p>
        </p:txBody>
      </p:sp>
      <p:sp>
        <p:nvSpPr>
          <p:cNvPr id="247" name="Google Shape;247;g3d52980e9b2_0_145"/>
          <p:cNvSpPr/>
          <p:nvPr/>
        </p:nvSpPr>
        <p:spPr>
          <a:xfrm>
            <a:off x="5242560" y="4852416"/>
            <a:ext cx="63399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300"/>
              <a:buFont typeface="Calibri"/>
              <a:buNone/>
            </a:pPr>
            <a:r>
              <a:rPr b="1" i="0" lang="en-US" sz="2300" u="none" cap="none" strike="noStrike">
                <a:solidFill>
                  <a:srgbClr val="1A1A1A"/>
                </a:solidFill>
                <a:latin typeface="Calibri"/>
                <a:ea typeface="Calibri"/>
                <a:cs typeface="Calibri"/>
                <a:sym typeface="Calibri"/>
              </a:rPr>
              <a:t>Security by Default</a:t>
            </a:r>
            <a:endParaRPr b="0" i="0" sz="2300" u="none" cap="none" strike="noStrike">
              <a:solidFill>
                <a:schemeClr val="dk1"/>
              </a:solidFill>
              <a:latin typeface="Calibri"/>
              <a:ea typeface="Calibri"/>
              <a:cs typeface="Calibri"/>
              <a:sym typeface="Calibri"/>
            </a:endParaRPr>
          </a:p>
        </p:txBody>
      </p:sp>
      <p:sp>
        <p:nvSpPr>
          <p:cNvPr id="248" name="Google Shape;248;g3d52980e9b2_0_145"/>
          <p:cNvSpPr/>
          <p:nvPr/>
        </p:nvSpPr>
        <p:spPr>
          <a:xfrm>
            <a:off x="5242560" y="5364480"/>
            <a:ext cx="6339900" cy="7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600"/>
              <a:buFont typeface="Calibri"/>
              <a:buNone/>
            </a:pPr>
            <a:r>
              <a:rPr b="0" i="0" lang="en-US" sz="1600" u="none" cap="none" strike="noStrike">
                <a:solidFill>
                  <a:srgbClr val="555555"/>
                </a:solidFill>
                <a:latin typeface="Calibri"/>
                <a:ea typeface="Calibri"/>
                <a:cs typeface="Calibri"/>
                <a:sym typeface="Calibri"/>
              </a:rPr>
              <a:t>@login_required, user-scoped queries, and get_object_or_404 prevent IDOR. require_http_methods locks state-changing routes.</a:t>
            </a:r>
            <a:endParaRPr b="0" i="0" sz="1600" u="none" cap="none" strike="noStrike">
              <a:solidFill>
                <a:schemeClr val="dk1"/>
              </a:solidFill>
              <a:latin typeface="Calibri"/>
              <a:ea typeface="Calibri"/>
              <a:cs typeface="Calibri"/>
              <a:sym typeface="Calibri"/>
            </a:endParaRPr>
          </a:p>
        </p:txBody>
      </p:sp>
      <p:sp>
        <p:nvSpPr>
          <p:cNvPr id="249" name="Google Shape;249;g3d52980e9b2_0_145"/>
          <p:cNvSpPr/>
          <p:nvPr/>
        </p:nvSpPr>
        <p:spPr>
          <a:xfrm>
            <a:off x="10728960" y="6486144"/>
            <a:ext cx="11583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500"/>
              <a:buFont typeface="Calibri"/>
              <a:buNone/>
            </a:pPr>
            <a:r>
              <a:rPr b="1" i="0" lang="en-US" sz="1500" u="none" cap="none" strike="noStrike">
                <a:solidFill>
                  <a:srgbClr val="1A1A1A"/>
                </a:solidFill>
                <a:latin typeface="Calibri"/>
                <a:ea typeface="Calibri"/>
                <a:cs typeface="Calibri"/>
                <a:sym typeface="Calibri"/>
              </a:rPr>
              <a:t>UVU</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g3d52980e9b2_0_174"/>
          <p:cNvSpPr/>
          <p:nvPr/>
        </p:nvSpPr>
        <p:spPr>
          <a:xfrm>
            <a:off x="0" y="0"/>
            <a:ext cx="2438400" cy="4328100"/>
          </a:xfrm>
          <a:prstGeom prst="rect">
            <a:avLst/>
          </a:prstGeom>
          <a:solidFill>
            <a:srgbClr val="F4F4F4"/>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6" name="Google Shape;256;g3d52980e9b2_0_174"/>
          <p:cNvSpPr/>
          <p:nvPr/>
        </p:nvSpPr>
        <p:spPr>
          <a:xfrm>
            <a:off x="182880" y="1036320"/>
            <a:ext cx="2255700" cy="170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700"/>
              <a:buFont typeface="Calibri"/>
              <a:buNone/>
            </a:pPr>
            <a:r>
              <a:t/>
            </a:r>
            <a:endParaRPr b="0" i="0" sz="1700" u="none" cap="none" strike="noStrike">
              <a:solidFill>
                <a:schemeClr val="dk1"/>
              </a:solidFill>
              <a:latin typeface="Calibri"/>
              <a:ea typeface="Calibri"/>
              <a:cs typeface="Calibri"/>
              <a:sym typeface="Calibri"/>
            </a:endParaRPr>
          </a:p>
        </p:txBody>
      </p:sp>
      <p:sp>
        <p:nvSpPr>
          <p:cNvPr id="257" name="Google Shape;257;g3d52980e9b2_0_174"/>
          <p:cNvSpPr/>
          <p:nvPr/>
        </p:nvSpPr>
        <p:spPr>
          <a:xfrm>
            <a:off x="2438400" y="0"/>
            <a:ext cx="1219200" cy="4328100"/>
          </a:xfrm>
          <a:prstGeom prst="rect">
            <a:avLst/>
          </a:prstGeom>
          <a:solidFill>
            <a:srgbClr val="1E7A3C"/>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8" name="Google Shape;258;g3d52980e9b2_0_174"/>
          <p:cNvSpPr/>
          <p:nvPr/>
        </p:nvSpPr>
        <p:spPr>
          <a:xfrm>
            <a:off x="0" y="4328160"/>
            <a:ext cx="4023300" cy="732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9" name="Google Shape;259;g3d52980e9b2_0_174"/>
          <p:cNvSpPr/>
          <p:nvPr/>
        </p:nvSpPr>
        <p:spPr>
          <a:xfrm>
            <a:off x="0" y="4401312"/>
            <a:ext cx="2438400" cy="2462700"/>
          </a:xfrm>
          <a:prstGeom prst="rect">
            <a:avLst/>
          </a:prstGeom>
          <a:solidFill>
            <a:srgbClr val="FFFFFF"/>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0" name="Google Shape;260;g3d52980e9b2_0_174"/>
          <p:cNvSpPr/>
          <p:nvPr/>
        </p:nvSpPr>
        <p:spPr>
          <a:xfrm>
            <a:off x="2438400" y="4401312"/>
            <a:ext cx="1219200" cy="853500"/>
          </a:xfrm>
          <a:prstGeom prst="rect">
            <a:avLst/>
          </a:prstGeom>
          <a:solidFill>
            <a:srgbClr val="FFFFFF"/>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1" name="Google Shape;261;g3d52980e9b2_0_174"/>
          <p:cNvSpPr/>
          <p:nvPr/>
        </p:nvSpPr>
        <p:spPr>
          <a:xfrm>
            <a:off x="2438400" y="5254752"/>
            <a:ext cx="1219200" cy="1609200"/>
          </a:xfrm>
          <a:prstGeom prst="rect">
            <a:avLst/>
          </a:prstGeom>
          <a:solidFill>
            <a:srgbClr val="6BB64A"/>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2" name="Google Shape;262;g3d52980e9b2_0_174"/>
          <p:cNvSpPr/>
          <p:nvPr/>
        </p:nvSpPr>
        <p:spPr>
          <a:xfrm>
            <a:off x="2401824" y="0"/>
            <a:ext cx="73200" cy="68580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3" name="Google Shape;263;g3d52980e9b2_0_174"/>
          <p:cNvSpPr/>
          <p:nvPr/>
        </p:nvSpPr>
        <p:spPr>
          <a:xfrm>
            <a:off x="3621024" y="0"/>
            <a:ext cx="73200" cy="6858000"/>
          </a:xfrm>
          <a:prstGeom prst="rect">
            <a:avLst/>
          </a:prstGeom>
          <a:solidFill>
            <a:srgbClr val="000000"/>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4" name="Google Shape;264;g3d52980e9b2_0_174"/>
          <p:cNvSpPr/>
          <p:nvPr/>
        </p:nvSpPr>
        <p:spPr>
          <a:xfrm>
            <a:off x="4023360" y="426720"/>
            <a:ext cx="7924800" cy="97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500"/>
              <a:buFont typeface="Calibri"/>
              <a:buNone/>
            </a:pPr>
            <a:r>
              <a:rPr b="1" i="0" lang="en-US" sz="3500" u="none" cap="none" strike="noStrike">
                <a:solidFill>
                  <a:srgbClr val="1A1A1A"/>
                </a:solidFill>
                <a:latin typeface="Calibri"/>
                <a:ea typeface="Calibri"/>
                <a:cs typeface="Calibri"/>
                <a:sym typeface="Calibri"/>
              </a:rPr>
              <a:t>Defense-in-depth Validation</a:t>
            </a:r>
            <a:endParaRPr b="0" i="0" sz="3500" u="none" cap="none" strike="noStrike">
              <a:solidFill>
                <a:schemeClr val="dk1"/>
              </a:solidFill>
              <a:latin typeface="Calibri"/>
              <a:ea typeface="Calibri"/>
              <a:cs typeface="Calibri"/>
              <a:sym typeface="Calibri"/>
            </a:endParaRPr>
          </a:p>
        </p:txBody>
      </p:sp>
      <p:sp>
        <p:nvSpPr>
          <p:cNvPr id="265" name="Google Shape;265;g3d52980e9b2_0_174"/>
          <p:cNvSpPr/>
          <p:nvPr/>
        </p:nvSpPr>
        <p:spPr>
          <a:xfrm>
            <a:off x="4023360" y="1645920"/>
            <a:ext cx="7924800" cy="4815900"/>
          </a:xfrm>
          <a:prstGeom prst="rect">
            <a:avLst/>
          </a:prstGeom>
          <a:solidFill>
            <a:srgbClr val="0F172A"/>
          </a:solidFill>
          <a:ln cap="flat" cmpd="sng" w="169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6" name="Google Shape;266;g3d52980e9b2_0_174"/>
          <p:cNvSpPr/>
          <p:nvPr/>
        </p:nvSpPr>
        <p:spPr>
          <a:xfrm>
            <a:off x="4267200" y="1865376"/>
            <a:ext cx="170700" cy="170700"/>
          </a:xfrm>
          <a:prstGeom prst="ellipse">
            <a:avLst/>
          </a:prstGeom>
          <a:solidFill>
            <a:srgbClr val="EF4444"/>
          </a:solidFill>
          <a:ln cap="flat" cmpd="sng" w="16925">
            <a:solidFill>
              <a:srgbClr val="EF444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7" name="Google Shape;267;g3d52980e9b2_0_174"/>
          <p:cNvSpPr/>
          <p:nvPr/>
        </p:nvSpPr>
        <p:spPr>
          <a:xfrm>
            <a:off x="4535424" y="1865376"/>
            <a:ext cx="170700" cy="170700"/>
          </a:xfrm>
          <a:prstGeom prst="ellipse">
            <a:avLst/>
          </a:prstGeom>
          <a:solidFill>
            <a:srgbClr val="F59E0B"/>
          </a:solidFill>
          <a:ln cap="flat" cmpd="sng" w="16925">
            <a:solidFill>
              <a:srgbClr val="F59E0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8" name="Google Shape;268;g3d52980e9b2_0_174"/>
          <p:cNvSpPr/>
          <p:nvPr/>
        </p:nvSpPr>
        <p:spPr>
          <a:xfrm>
            <a:off x="4803648" y="1865376"/>
            <a:ext cx="170700" cy="170700"/>
          </a:xfrm>
          <a:prstGeom prst="ellipse">
            <a:avLst/>
          </a:prstGeom>
          <a:solidFill>
            <a:srgbClr val="10B981"/>
          </a:solidFill>
          <a:ln cap="flat" cmpd="sng" w="16925">
            <a:solidFill>
              <a:srgbClr val="10B98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9" name="Google Shape;269;g3d52980e9b2_0_174"/>
          <p:cNvSpPr/>
          <p:nvPr/>
        </p:nvSpPr>
        <p:spPr>
          <a:xfrm>
            <a:off x="5242560" y="1792224"/>
            <a:ext cx="4876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onsolas"/>
              <a:buNone/>
            </a:pPr>
            <a:r>
              <a:rPr b="0" i="0" lang="en-US" sz="1300" u="none" cap="none" strike="noStrike">
                <a:solidFill>
                  <a:srgbClr val="94A3B8"/>
                </a:solidFill>
                <a:latin typeface="Consolas"/>
                <a:ea typeface="Consolas"/>
                <a:cs typeface="Consolas"/>
                <a:sym typeface="Consolas"/>
              </a:rPr>
              <a:t>models.py</a:t>
            </a:r>
            <a:endParaRPr b="0" i="0" sz="1300" u="none" cap="none" strike="noStrike">
              <a:solidFill>
                <a:schemeClr val="dk1"/>
              </a:solidFill>
              <a:latin typeface="Calibri"/>
              <a:ea typeface="Calibri"/>
              <a:cs typeface="Calibri"/>
              <a:sym typeface="Calibri"/>
            </a:endParaRPr>
          </a:p>
        </p:txBody>
      </p:sp>
      <p:sp>
        <p:nvSpPr>
          <p:cNvPr id="270" name="Google Shape;270;g3d52980e9b2_0_174"/>
          <p:cNvSpPr/>
          <p:nvPr/>
        </p:nvSpPr>
        <p:spPr>
          <a:xfrm>
            <a:off x="4328160" y="2255520"/>
            <a:ext cx="7315200" cy="408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4FC"/>
              </a:buClr>
              <a:buSzPts val="1500"/>
              <a:buFont typeface="Consolas"/>
              <a:buNone/>
            </a:pPr>
            <a:r>
              <a:rPr b="0" i="0" lang="en-US" sz="1500" u="none" cap="none" strike="noStrike">
                <a:solidFill>
                  <a:srgbClr val="C084FC"/>
                </a:solidFill>
                <a:latin typeface="Consolas"/>
                <a:ea typeface="Consolas"/>
                <a:cs typeface="Consolas"/>
                <a:sym typeface="Consolas"/>
              </a:rPr>
              <a:t>class </a:t>
            </a:r>
            <a:r>
              <a:rPr b="0" i="0" lang="en-US" sz="1500" u="none" cap="none" strike="noStrike">
                <a:solidFill>
                  <a:srgbClr val="5EEAD4"/>
                </a:solidFill>
                <a:latin typeface="Consolas"/>
                <a:ea typeface="Consolas"/>
                <a:cs typeface="Consolas"/>
                <a:sym typeface="Consolas"/>
              </a:rPr>
              <a:t>Task</a:t>
            </a:r>
            <a:r>
              <a:rPr b="0" i="0" lang="en-US" sz="1500" u="none" cap="none" strike="noStrike">
                <a:solidFill>
                  <a:srgbClr val="F1F5F9"/>
                </a:solidFill>
                <a:latin typeface="Consolas"/>
                <a:ea typeface="Consolas"/>
                <a:cs typeface="Consolas"/>
                <a:sym typeface="Consolas"/>
              </a:rPr>
              <a:t>(models.Model):</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a:t>
            </a:r>
            <a:r>
              <a:rPr b="0" i="0" lang="en-US" sz="1500" u="none" cap="none" strike="noStrike">
                <a:solidFill>
                  <a:srgbClr val="C084FC"/>
                </a:solidFill>
                <a:latin typeface="Consolas"/>
                <a:ea typeface="Consolas"/>
                <a:cs typeface="Consolas"/>
                <a:sym typeface="Consolas"/>
              </a:rPr>
              <a:t>def </a:t>
            </a:r>
            <a:r>
              <a:rPr b="0" i="0" lang="en-US" sz="1500" u="none" cap="none" strike="noStrike">
                <a:solidFill>
                  <a:srgbClr val="60A5FA"/>
                </a:solidFill>
                <a:latin typeface="Consolas"/>
                <a:ea typeface="Consolas"/>
                <a:cs typeface="Consolas"/>
                <a:sym typeface="Consolas"/>
              </a:rPr>
              <a:t>clean</a:t>
            </a:r>
            <a:r>
              <a:rPr b="0" i="0" lang="en-US" sz="1500" u="none" cap="none" strike="noStrike">
                <a:solidFill>
                  <a:srgbClr val="F1F5F9"/>
                </a:solidFill>
                <a:latin typeface="Consolas"/>
                <a:ea typeface="Consolas"/>
                <a:cs typeface="Consolas"/>
                <a:sym typeface="Consolas"/>
              </a:rPr>
              <a:t>(self):</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today = timezone.now().date()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a:t>
            </a:r>
            <a:r>
              <a:rPr b="0" i="0" lang="en-US" sz="1500" u="none" cap="none" strike="noStrike">
                <a:solidFill>
                  <a:srgbClr val="C084FC"/>
                </a:solidFill>
                <a:latin typeface="Consolas"/>
                <a:ea typeface="Consolas"/>
                <a:cs typeface="Consolas"/>
                <a:sym typeface="Consolas"/>
              </a:rPr>
              <a:t>if </a:t>
            </a:r>
            <a:r>
              <a:rPr b="0" i="0" lang="en-US" sz="1500" u="none" cap="none" strike="noStrike">
                <a:solidFill>
                  <a:srgbClr val="F1F5F9"/>
                </a:solidFill>
                <a:latin typeface="Consolas"/>
                <a:ea typeface="Consolas"/>
                <a:cs typeface="Consolas"/>
                <a:sym typeface="Consolas"/>
              </a:rPr>
              <a:t>self.due_date </a:t>
            </a:r>
            <a:r>
              <a:rPr b="0" i="0" lang="en-US" sz="1500" u="none" cap="none" strike="noStrike">
                <a:solidFill>
                  <a:srgbClr val="C084FC"/>
                </a:solidFill>
                <a:latin typeface="Consolas"/>
                <a:ea typeface="Consolas"/>
                <a:cs typeface="Consolas"/>
                <a:sym typeface="Consolas"/>
              </a:rPr>
              <a:t>and </a:t>
            </a:r>
            <a:r>
              <a:rPr b="0" i="0" lang="en-US" sz="1500" u="none" cap="none" strike="noStrike">
                <a:solidFill>
                  <a:srgbClr val="F1F5F9"/>
                </a:solidFill>
                <a:latin typeface="Consolas"/>
                <a:ea typeface="Consolas"/>
                <a:cs typeface="Consolas"/>
                <a:sym typeface="Consolas"/>
              </a:rPr>
              <a:t>self.due_date &lt; today:</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a:t>
            </a:r>
            <a:r>
              <a:rPr b="0" i="0" lang="en-US" sz="1500" u="none" cap="none" strike="noStrike">
                <a:solidFill>
                  <a:srgbClr val="C084FC"/>
                </a:solidFill>
                <a:latin typeface="Consolas"/>
                <a:ea typeface="Consolas"/>
                <a:cs typeface="Consolas"/>
                <a:sym typeface="Consolas"/>
              </a:rPr>
              <a:t>raise </a:t>
            </a:r>
            <a:r>
              <a:rPr b="0" i="0" lang="en-US" sz="1500" u="none" cap="none" strike="noStrike">
                <a:solidFill>
                  <a:srgbClr val="F87171"/>
                </a:solidFill>
                <a:latin typeface="Consolas"/>
                <a:ea typeface="Consolas"/>
                <a:cs typeface="Consolas"/>
                <a:sym typeface="Consolas"/>
              </a:rPr>
              <a:t>ValidationError</a:t>
            </a:r>
            <a:r>
              <a:rPr b="0" i="0" lang="en-US" sz="1500" u="none" cap="none" strike="noStrike">
                <a:solidFill>
                  <a:srgbClr val="F1F5F9"/>
                </a:solidFill>
                <a:latin typeface="Consolas"/>
                <a:ea typeface="Consolas"/>
                <a:cs typeface="Consolas"/>
                <a:sym typeface="Consolas"/>
              </a:rPr>
              <a:t>(</a:t>
            </a:r>
            <a:r>
              <a:rPr b="0" i="0" lang="en-US" sz="1500" u="none" cap="none" strike="noStrike">
                <a:solidFill>
                  <a:srgbClr val="FCD34D"/>
                </a:solidFill>
                <a:latin typeface="Consolas"/>
                <a:ea typeface="Consolas"/>
                <a:cs typeface="Consolas"/>
                <a:sym typeface="Consolas"/>
              </a:rPr>
              <a:t>"Due date in past."</a:t>
            </a:r>
            <a:r>
              <a:rPr b="0" i="0" lang="en-US" sz="1500" u="none" cap="none" strike="noStrike">
                <a:solidFill>
                  <a:srgbClr val="F1F5F9"/>
                </a:solidFill>
                <a:latin typeface="Consolas"/>
                <a:ea typeface="Consolas"/>
                <a:cs typeface="Consolas"/>
                <a:sym typeface="Consolas"/>
              </a:rPr>
              <a:t>)</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a:t>
            </a:r>
            <a:r>
              <a:rPr b="0" i="0" lang="en-US" sz="1500" u="none" cap="none" strike="noStrike">
                <a:solidFill>
                  <a:srgbClr val="C084FC"/>
                </a:solidFill>
                <a:latin typeface="Consolas"/>
                <a:ea typeface="Consolas"/>
                <a:cs typeface="Consolas"/>
                <a:sym typeface="Consolas"/>
              </a:rPr>
              <a:t>if </a:t>
            </a:r>
            <a:r>
              <a:rPr b="0" i="0" lang="en-US" sz="1500" u="none" cap="none" strike="noStrike">
                <a:solidFill>
                  <a:srgbClr val="F1F5F9"/>
                </a:solidFill>
                <a:latin typeface="Consolas"/>
                <a:ea typeface="Consolas"/>
                <a:cs typeface="Consolas"/>
                <a:sym typeface="Consolas"/>
              </a:rPr>
              <a:t>self.priority </a:t>
            </a:r>
            <a:r>
              <a:rPr b="0" i="0" lang="en-US" sz="1500" u="none" cap="none" strike="noStrike">
                <a:solidFill>
                  <a:srgbClr val="C084FC"/>
                </a:solidFill>
                <a:latin typeface="Consolas"/>
                <a:ea typeface="Consolas"/>
                <a:cs typeface="Consolas"/>
                <a:sym typeface="Consolas"/>
              </a:rPr>
              <a:t>not in </a:t>
            </a:r>
            <a:r>
              <a:rPr b="0" i="0" lang="en-US" sz="1500" u="none" cap="none" strike="noStrike">
                <a:solidFill>
                  <a:srgbClr val="F1F5F9"/>
                </a:solidFill>
                <a:latin typeface="Consolas"/>
                <a:ea typeface="Consolas"/>
                <a:cs typeface="Consolas"/>
                <a:sym typeface="Consolas"/>
              </a:rPr>
              <a:t>self.Priority.values: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a:t>
            </a:r>
            <a:r>
              <a:rPr b="0" i="0" lang="en-US" sz="1500" u="none" cap="none" strike="noStrike">
                <a:solidFill>
                  <a:srgbClr val="C084FC"/>
                </a:solidFill>
                <a:latin typeface="Consolas"/>
                <a:ea typeface="Consolas"/>
                <a:cs typeface="Consolas"/>
                <a:sym typeface="Consolas"/>
              </a:rPr>
              <a:t>raise </a:t>
            </a:r>
            <a:r>
              <a:rPr b="0" i="0" lang="en-US" sz="1500" u="none" cap="none" strike="noStrike">
                <a:solidFill>
                  <a:srgbClr val="F87171"/>
                </a:solidFill>
                <a:latin typeface="Consolas"/>
                <a:ea typeface="Consolas"/>
                <a:cs typeface="Consolas"/>
                <a:sym typeface="Consolas"/>
              </a:rPr>
              <a:t>ValidationError</a:t>
            </a:r>
            <a:r>
              <a:rPr b="0" i="0" lang="en-US" sz="1500" u="none" cap="none" strike="noStrike">
                <a:solidFill>
                  <a:srgbClr val="F1F5F9"/>
                </a:solidFill>
                <a:latin typeface="Consolas"/>
                <a:ea typeface="Consolas"/>
                <a:cs typeface="Consolas"/>
                <a:sym typeface="Consolas"/>
              </a:rPr>
              <a:t>(</a:t>
            </a:r>
            <a:r>
              <a:rPr b="0" i="0" lang="en-US" sz="1500" u="none" cap="none" strike="noStrike">
                <a:solidFill>
                  <a:srgbClr val="FCD34D"/>
                </a:solidFill>
                <a:latin typeface="Consolas"/>
                <a:ea typeface="Consolas"/>
                <a:cs typeface="Consolas"/>
                <a:sym typeface="Consolas"/>
              </a:rPr>
              <a:t>"Invalid priority."</a:t>
            </a:r>
            <a:r>
              <a:rPr b="0" i="0" lang="en-US" sz="1500" u="none" cap="none" strike="noStrike">
                <a:solidFill>
                  <a:srgbClr val="F1F5F9"/>
                </a:solidFill>
                <a:latin typeface="Consolas"/>
                <a:ea typeface="Consolas"/>
                <a:cs typeface="Consolas"/>
                <a:sym typeface="Consolas"/>
              </a:rPr>
              <a:t>)</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a:t>
            </a:r>
            <a:r>
              <a:rPr b="0" i="0" lang="en-US" sz="1500" u="none" cap="none" strike="noStrike">
                <a:solidFill>
                  <a:srgbClr val="C084FC"/>
                </a:solidFill>
                <a:latin typeface="Consolas"/>
                <a:ea typeface="Consolas"/>
                <a:cs typeface="Consolas"/>
                <a:sym typeface="Consolas"/>
              </a:rPr>
              <a:t>def </a:t>
            </a:r>
            <a:r>
              <a:rPr b="0" i="0" lang="en-US" sz="1500" u="none" cap="none" strike="noStrike">
                <a:solidFill>
                  <a:srgbClr val="60A5FA"/>
                </a:solidFill>
                <a:latin typeface="Consolas"/>
                <a:ea typeface="Consolas"/>
                <a:cs typeface="Consolas"/>
                <a:sym typeface="Consolas"/>
              </a:rPr>
              <a:t>save</a:t>
            </a:r>
            <a:r>
              <a:rPr b="0" i="0" lang="en-US" sz="1500" u="none" cap="none" strike="noStrike">
                <a:solidFill>
                  <a:srgbClr val="F1F5F9"/>
                </a:solidFill>
                <a:latin typeface="Consolas"/>
                <a:ea typeface="Consolas"/>
                <a:cs typeface="Consolas"/>
                <a:sym typeface="Consolas"/>
              </a:rPr>
              <a:t>(self, *args, **kwargs):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self.full_clean()  </a:t>
            </a:r>
            <a:r>
              <a:rPr b="0" i="0" lang="en-US" sz="1500" u="none" cap="none" strike="noStrike">
                <a:solidFill>
                  <a:srgbClr val="64748B"/>
                </a:solidFill>
                <a:latin typeface="Consolas"/>
                <a:ea typeface="Consolas"/>
                <a:cs typeface="Consolas"/>
                <a:sym typeface="Consolas"/>
              </a:rPr>
              <a:t># defense in depth</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1F5F9"/>
              </a:buClr>
              <a:buSzPts val="1500"/>
              <a:buFont typeface="Consolas"/>
              <a:buNone/>
            </a:pPr>
            <a:r>
              <a:rPr b="0" i="0" lang="en-US" sz="1500" u="none" cap="none" strike="noStrike">
                <a:solidFill>
                  <a:srgbClr val="F1F5F9"/>
                </a:solidFill>
                <a:latin typeface="Consolas"/>
                <a:ea typeface="Consolas"/>
                <a:cs typeface="Consolas"/>
                <a:sym typeface="Consolas"/>
              </a:rPr>
              <a:t>        super().save(*args, **kwargs)</a:t>
            </a:r>
            <a:endParaRPr b="0" i="0" sz="1500" u="none" cap="none" strike="noStrike">
              <a:solidFill>
                <a:schemeClr val="dk1"/>
              </a:solidFill>
              <a:latin typeface="Calibri"/>
              <a:ea typeface="Calibri"/>
              <a:cs typeface="Calibri"/>
              <a:sym typeface="Calibri"/>
            </a:endParaRPr>
          </a:p>
        </p:txBody>
      </p:sp>
      <p:sp>
        <p:nvSpPr>
          <p:cNvPr id="271" name="Google Shape;271;g3d52980e9b2_0_174"/>
          <p:cNvSpPr/>
          <p:nvPr/>
        </p:nvSpPr>
        <p:spPr>
          <a:xfrm>
            <a:off x="10728960" y="6486144"/>
            <a:ext cx="11583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500"/>
              <a:buFont typeface="Calibri"/>
              <a:buNone/>
            </a:pPr>
            <a:r>
              <a:rPr b="1" i="0" lang="en-US" sz="1500" u="none" cap="none" strike="noStrike">
                <a:solidFill>
                  <a:srgbClr val="1A1A1A"/>
                </a:solidFill>
                <a:latin typeface="Calibri"/>
                <a:ea typeface="Calibri"/>
                <a:cs typeface="Calibri"/>
                <a:sym typeface="Calibri"/>
              </a:rPr>
              <a:t>UVU</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1"/>
          <p:cNvPicPr preferRelativeResize="0"/>
          <p:nvPr/>
        </p:nvPicPr>
        <p:blipFill rotWithShape="1">
          <a:blip r:embed="rId3">
            <a:alphaModFix/>
          </a:blip>
          <a:srcRect b="19299" l="0" r="0" t="7087"/>
          <a:stretch/>
        </p:blipFill>
        <p:spPr>
          <a:xfrm>
            <a:off x="2878271" y="0"/>
            <a:ext cx="9313730" cy="6858000"/>
          </a:xfrm>
          <a:prstGeom prst="rect">
            <a:avLst/>
          </a:prstGeom>
          <a:noFill/>
          <a:ln>
            <a:noFill/>
          </a:ln>
        </p:spPr>
      </p:pic>
      <p:sp>
        <p:nvSpPr>
          <p:cNvPr id="277" name="Google Shape;277;p1"/>
          <p:cNvSpPr/>
          <p:nvPr/>
        </p:nvSpPr>
        <p:spPr>
          <a:xfrm>
            <a:off x="-1" y="-1"/>
            <a:ext cx="2878270" cy="4156953"/>
          </a:xfrm>
          <a:prstGeom prst="rect">
            <a:avLst/>
          </a:prstGeom>
          <a:solidFill>
            <a:srgbClr val="1184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8" name="Google Shape;278;p1"/>
          <p:cNvSpPr/>
          <p:nvPr/>
        </p:nvSpPr>
        <p:spPr>
          <a:xfrm>
            <a:off x="0" y="4156953"/>
            <a:ext cx="2878270" cy="2701047"/>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9" name="Google Shape;279;p1"/>
          <p:cNvSpPr txBox="1"/>
          <p:nvPr>
            <p:ph type="ctrTitle"/>
          </p:nvPr>
        </p:nvSpPr>
        <p:spPr>
          <a:xfrm>
            <a:off x="3035588" y="-82575"/>
            <a:ext cx="8999100" cy="2091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600"/>
              <a:buFont typeface="Montserrat"/>
              <a:buNone/>
            </a:pPr>
            <a:r>
              <a:rPr lang="en-US" sz="4200">
                <a:solidFill>
                  <a:schemeClr val="lt1"/>
                </a:solidFill>
              </a:rPr>
              <a:t>Relevant Git Commits Timeline</a:t>
            </a:r>
            <a:endParaRPr sz="2400"/>
          </a:p>
        </p:txBody>
      </p:sp>
      <p:sp>
        <p:nvSpPr>
          <p:cNvPr id="280" name="Google Shape;280;p1"/>
          <p:cNvSpPr txBox="1"/>
          <p:nvPr>
            <p:ph idx="1" type="subTitle"/>
          </p:nvPr>
        </p:nvSpPr>
        <p:spPr>
          <a:xfrm>
            <a:off x="2874400" y="1598450"/>
            <a:ext cx="5145600" cy="4789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2800"/>
              <a:buNone/>
            </a:pPr>
            <a:r>
              <a:rPr lang="en-US">
                <a:solidFill>
                  <a:schemeClr val="lt1"/>
                </a:solidFill>
              </a:rPr>
              <a:t>MVP: Feb. 10</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381000" lvl="0" marL="457200" rtl="0" algn="l">
              <a:lnSpc>
                <a:spcPct val="80000"/>
              </a:lnSpc>
              <a:spcBef>
                <a:spcPts val="0"/>
              </a:spcBef>
              <a:spcAft>
                <a:spcPts val="0"/>
              </a:spcAft>
              <a:buClr>
                <a:schemeClr val="lt1"/>
              </a:buClr>
              <a:buSzPts val="2400"/>
              <a:buChar char="●"/>
            </a:pPr>
            <a:r>
              <a:rPr lang="en-US">
                <a:solidFill>
                  <a:schemeClr val="lt1"/>
                </a:solidFill>
              </a:rPr>
              <a:t>Introduced our Command Line Interface under cli.py with 177 lines of code</a:t>
            </a:r>
            <a:endParaRPr>
              <a:solidFill>
                <a:schemeClr val="lt1"/>
              </a:solidFill>
            </a:endParaRPr>
          </a:p>
          <a:p>
            <a:pPr indent="-381000" lvl="0" marL="457200" rtl="0" algn="l">
              <a:lnSpc>
                <a:spcPct val="80000"/>
              </a:lnSpc>
              <a:spcBef>
                <a:spcPts val="0"/>
              </a:spcBef>
              <a:spcAft>
                <a:spcPts val="0"/>
              </a:spcAft>
              <a:buClr>
                <a:schemeClr val="lt1"/>
              </a:buClr>
              <a:buSzPts val="2400"/>
              <a:buChar char="●"/>
            </a:pPr>
            <a:r>
              <a:rPr lang="en-US">
                <a:solidFill>
                  <a:schemeClr val="lt1"/>
                </a:solidFill>
              </a:rPr>
              <a:t>Laid the functional groundwork of our application beyond initial documentation</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US">
                <a:solidFill>
                  <a:schemeClr val="lt1"/>
                </a:solidFill>
              </a:rPr>
              <a:t>CRUD Finalized: Feb. 21</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381000" lvl="0" marL="457200" rtl="0" algn="l">
              <a:lnSpc>
                <a:spcPct val="80000"/>
              </a:lnSpc>
              <a:spcBef>
                <a:spcPts val="0"/>
              </a:spcBef>
              <a:spcAft>
                <a:spcPts val="0"/>
              </a:spcAft>
              <a:buClr>
                <a:schemeClr val="lt1"/>
              </a:buClr>
              <a:buSzPts val="2400"/>
              <a:buChar char="●"/>
            </a:pPr>
            <a:r>
              <a:rPr lang="en-US">
                <a:solidFill>
                  <a:schemeClr val="lt1"/>
                </a:solidFill>
              </a:rPr>
              <a:t>Create, Read, Update, and Delete tasks completed for our CLI.</a:t>
            </a:r>
            <a:endParaRPr>
              <a:solidFill>
                <a:schemeClr val="lt1"/>
              </a:solidFill>
            </a:endParaRPr>
          </a:p>
          <a:p>
            <a:pPr indent="-381000" lvl="0" marL="457200" rtl="0" algn="l">
              <a:lnSpc>
                <a:spcPct val="80000"/>
              </a:lnSpc>
              <a:spcBef>
                <a:spcPts val="0"/>
              </a:spcBef>
              <a:spcAft>
                <a:spcPts val="0"/>
              </a:spcAft>
              <a:buClr>
                <a:schemeClr val="lt1"/>
              </a:buClr>
              <a:buSzPts val="2400"/>
              <a:buChar char="●"/>
            </a:pPr>
            <a:r>
              <a:rPr lang="en-US">
                <a:solidFill>
                  <a:schemeClr val="lt1"/>
                </a:solidFill>
              </a:rPr>
              <a:t>Established basis of app before being further built.</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p:txBody>
      </p:sp>
      <p:cxnSp>
        <p:nvCxnSpPr>
          <p:cNvPr id="281" name="Google Shape;281;p1"/>
          <p:cNvCxnSpPr/>
          <p:nvPr/>
        </p:nvCxnSpPr>
        <p:spPr>
          <a:xfrm>
            <a:off x="2874389" y="-82575"/>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282" name="Google Shape;282;p1"/>
          <p:cNvCxnSpPr/>
          <p:nvPr/>
        </p:nvCxnSpPr>
        <p:spPr>
          <a:xfrm>
            <a:off x="0" y="4156953"/>
            <a:ext cx="2878270" cy="0"/>
          </a:xfrm>
          <a:prstGeom prst="straightConnector1">
            <a:avLst/>
          </a:prstGeom>
          <a:noFill/>
          <a:ln cap="flat" cmpd="sng" w="76200">
            <a:solidFill>
              <a:schemeClr val="dk1"/>
            </a:solidFill>
            <a:prstDash val="solid"/>
            <a:miter lim="800000"/>
            <a:headEnd len="sm" w="sm" type="none"/>
            <a:tailEnd len="sm" w="sm" type="none"/>
          </a:ln>
        </p:spPr>
      </p:cxnSp>
      <p:pic>
        <p:nvPicPr>
          <p:cNvPr id="283" name="Google Shape;283;p1"/>
          <p:cNvPicPr preferRelativeResize="0"/>
          <p:nvPr/>
        </p:nvPicPr>
        <p:blipFill rotWithShape="1">
          <a:blip r:embed="rId4">
            <a:alphaModFix/>
          </a:blip>
          <a:srcRect b="10891" l="0" r="0" t="5820"/>
          <a:stretch/>
        </p:blipFill>
        <p:spPr>
          <a:xfrm>
            <a:off x="162689" y="6218491"/>
            <a:ext cx="1006782" cy="479649"/>
          </a:xfrm>
          <a:prstGeom prst="rect">
            <a:avLst/>
          </a:prstGeom>
          <a:noFill/>
          <a:ln>
            <a:noFill/>
          </a:ln>
        </p:spPr>
      </p:pic>
      <p:pic>
        <p:nvPicPr>
          <p:cNvPr id="284" name="Google Shape;284;p1"/>
          <p:cNvPicPr preferRelativeResize="0"/>
          <p:nvPr/>
        </p:nvPicPr>
        <p:blipFill>
          <a:blip r:embed="rId5">
            <a:alphaModFix/>
          </a:blip>
          <a:stretch>
            <a:fillRect/>
          </a:stretch>
        </p:blipFill>
        <p:spPr>
          <a:xfrm>
            <a:off x="7879350" y="1898875"/>
            <a:ext cx="4165224" cy="2701050"/>
          </a:xfrm>
          <a:prstGeom prst="rect">
            <a:avLst/>
          </a:prstGeom>
          <a:noFill/>
          <a:ln>
            <a:noFill/>
          </a:ln>
        </p:spPr>
      </p:pic>
      <p:pic>
        <p:nvPicPr>
          <p:cNvPr id="285" name="Google Shape;285;p1"/>
          <p:cNvPicPr preferRelativeResize="0"/>
          <p:nvPr/>
        </p:nvPicPr>
        <p:blipFill>
          <a:blip r:embed="rId6">
            <a:alphaModFix/>
          </a:blip>
          <a:stretch>
            <a:fillRect/>
          </a:stretch>
        </p:blipFill>
        <p:spPr>
          <a:xfrm>
            <a:off x="7994538" y="4965575"/>
            <a:ext cx="3934849" cy="1376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
          <p:cNvSpPr/>
          <p:nvPr/>
        </p:nvSpPr>
        <p:spPr>
          <a:xfrm>
            <a:off x="0" y="5352150"/>
            <a:ext cx="2053500" cy="1505700"/>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1" name="Google Shape;291;p2"/>
          <p:cNvSpPr txBox="1"/>
          <p:nvPr>
            <p:ph type="ctrTitle"/>
          </p:nvPr>
        </p:nvSpPr>
        <p:spPr>
          <a:xfrm>
            <a:off x="2570525" y="68575"/>
            <a:ext cx="8149200" cy="1614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800"/>
              <a:buFont typeface="Montserrat"/>
              <a:buNone/>
            </a:pPr>
            <a:r>
              <a:rPr lang="en-US"/>
              <a:t>Commit Timeline cont.</a:t>
            </a:r>
            <a:endParaRPr/>
          </a:p>
        </p:txBody>
      </p:sp>
      <p:sp>
        <p:nvSpPr>
          <p:cNvPr id="292" name="Google Shape;292;p2"/>
          <p:cNvSpPr txBox="1"/>
          <p:nvPr>
            <p:ph idx="1" type="subTitle"/>
          </p:nvPr>
        </p:nvSpPr>
        <p:spPr>
          <a:xfrm>
            <a:off x="7154150" y="1384400"/>
            <a:ext cx="4810800" cy="52020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300"/>
              <a:t>MVC Pattern Refactor: Mar. 2</a:t>
            </a:r>
            <a:endParaRPr sz="2300"/>
          </a:p>
          <a:p>
            <a:pPr indent="0" lvl="0" marL="0" rtl="0" algn="l">
              <a:lnSpc>
                <a:spcPct val="80000"/>
              </a:lnSpc>
              <a:spcBef>
                <a:spcPts val="0"/>
              </a:spcBef>
              <a:spcAft>
                <a:spcPts val="0"/>
              </a:spcAft>
              <a:buClr>
                <a:schemeClr val="dk1"/>
              </a:buClr>
              <a:buSzPts val="1100"/>
              <a:buFont typeface="Arial"/>
              <a:buNone/>
            </a:pPr>
            <a:r>
              <a:t/>
            </a:r>
            <a:endParaRPr sz="2300"/>
          </a:p>
          <a:p>
            <a:pPr indent="-374650" lvl="0" marL="457200" rtl="0" algn="l">
              <a:lnSpc>
                <a:spcPct val="80000"/>
              </a:lnSpc>
              <a:spcBef>
                <a:spcPts val="0"/>
              </a:spcBef>
              <a:spcAft>
                <a:spcPts val="0"/>
              </a:spcAft>
              <a:buSzPts val="2300"/>
              <a:buChar char="●"/>
            </a:pPr>
            <a:r>
              <a:rPr lang="en-US" sz="2300"/>
              <a:t>Refactored cli.py file into Model-View-Controller architecture</a:t>
            </a:r>
            <a:endParaRPr sz="2300"/>
          </a:p>
          <a:p>
            <a:pPr indent="-374650" lvl="0" marL="457200" rtl="0" algn="l">
              <a:lnSpc>
                <a:spcPct val="80000"/>
              </a:lnSpc>
              <a:spcBef>
                <a:spcPts val="0"/>
              </a:spcBef>
              <a:spcAft>
                <a:spcPts val="0"/>
              </a:spcAft>
              <a:buSzPts val="2300"/>
              <a:buChar char="●"/>
            </a:pPr>
            <a:r>
              <a:rPr lang="en-US" sz="2300"/>
              <a:t>Logic split to 5 files (2 models, 1 view, 2 controllers)</a:t>
            </a:r>
            <a:endParaRPr b="1" i="1" sz="2300">
              <a:latin typeface="Montserrat SemiBold"/>
              <a:ea typeface="Montserrat SemiBold"/>
              <a:cs typeface="Montserrat SemiBold"/>
              <a:sym typeface="Montserrat SemiBold"/>
            </a:endParaRPr>
          </a:p>
          <a:p>
            <a:pPr indent="0" lvl="0" marL="0" rtl="0" algn="l">
              <a:lnSpc>
                <a:spcPct val="70000"/>
              </a:lnSpc>
              <a:spcBef>
                <a:spcPts val="0"/>
              </a:spcBef>
              <a:spcAft>
                <a:spcPts val="0"/>
              </a:spcAft>
              <a:buClr>
                <a:schemeClr val="lt1"/>
              </a:buClr>
              <a:buSzPts val="2220"/>
              <a:buNone/>
            </a:pPr>
            <a:r>
              <a:t/>
            </a:r>
            <a:endParaRPr sz="2320"/>
          </a:p>
          <a:p>
            <a:pPr indent="0" lvl="0" marL="0" rtl="0" algn="l">
              <a:lnSpc>
                <a:spcPct val="70000"/>
              </a:lnSpc>
              <a:spcBef>
                <a:spcPts val="0"/>
              </a:spcBef>
              <a:spcAft>
                <a:spcPts val="0"/>
              </a:spcAft>
              <a:buClr>
                <a:schemeClr val="lt1"/>
              </a:buClr>
              <a:buSzPts val="2220"/>
              <a:buNone/>
            </a:pPr>
            <a:r>
              <a:t/>
            </a:r>
            <a:endParaRPr sz="2320"/>
          </a:p>
          <a:p>
            <a:pPr indent="0" lvl="0" marL="0" rtl="0" algn="l">
              <a:lnSpc>
                <a:spcPct val="70000"/>
              </a:lnSpc>
              <a:spcBef>
                <a:spcPts val="0"/>
              </a:spcBef>
              <a:spcAft>
                <a:spcPts val="0"/>
              </a:spcAft>
              <a:buClr>
                <a:schemeClr val="lt1"/>
              </a:buClr>
              <a:buSzPts val="2220"/>
              <a:buNone/>
            </a:pPr>
            <a:r>
              <a:rPr lang="en-US" sz="2320"/>
              <a:t>GUI Integration: Mar. 7</a:t>
            </a:r>
            <a:endParaRPr sz="2320"/>
          </a:p>
          <a:p>
            <a:pPr indent="0" lvl="0" marL="0" rtl="0" algn="l">
              <a:lnSpc>
                <a:spcPct val="70000"/>
              </a:lnSpc>
              <a:spcBef>
                <a:spcPts val="0"/>
              </a:spcBef>
              <a:spcAft>
                <a:spcPts val="0"/>
              </a:spcAft>
              <a:buClr>
                <a:schemeClr val="lt1"/>
              </a:buClr>
              <a:buSzPts val="2220"/>
              <a:buNone/>
            </a:pPr>
            <a:r>
              <a:t/>
            </a:r>
            <a:endParaRPr sz="2320"/>
          </a:p>
          <a:p>
            <a:pPr indent="-375920" lvl="0" marL="457200" rtl="0" algn="l">
              <a:lnSpc>
                <a:spcPct val="70000"/>
              </a:lnSpc>
              <a:spcBef>
                <a:spcPts val="0"/>
              </a:spcBef>
              <a:spcAft>
                <a:spcPts val="0"/>
              </a:spcAft>
              <a:buSzPts val="2320"/>
              <a:buChar char="●"/>
            </a:pPr>
            <a:r>
              <a:rPr lang="en-US" sz="2320"/>
              <a:t>Moved outside command line to a Graphical User Interface with components like gui_view.py and gui_controller.py handling visual interactions.</a:t>
            </a:r>
            <a:endParaRPr sz="2320"/>
          </a:p>
          <a:p>
            <a:pPr indent="-375920" lvl="0" marL="457200" rtl="0" algn="l">
              <a:lnSpc>
                <a:spcPct val="70000"/>
              </a:lnSpc>
              <a:spcBef>
                <a:spcPts val="0"/>
              </a:spcBef>
              <a:spcAft>
                <a:spcPts val="0"/>
              </a:spcAft>
              <a:buSzPts val="2320"/>
              <a:buChar char="●"/>
            </a:pPr>
            <a:r>
              <a:rPr lang="en-US" sz="2320"/>
              <a:t>Updated main.py to initialize visual interface.</a:t>
            </a:r>
            <a:endParaRPr sz="2320"/>
          </a:p>
          <a:p>
            <a:pPr indent="0" lvl="0" marL="0" rtl="0" algn="l">
              <a:lnSpc>
                <a:spcPct val="70000"/>
              </a:lnSpc>
              <a:spcBef>
                <a:spcPts val="0"/>
              </a:spcBef>
              <a:spcAft>
                <a:spcPts val="0"/>
              </a:spcAft>
              <a:buSzPts val="1018"/>
              <a:buNone/>
            </a:pPr>
            <a:r>
              <a:t/>
            </a:r>
            <a:endParaRPr sz="2320"/>
          </a:p>
          <a:p>
            <a:pPr indent="0" lvl="0" marL="0" rtl="0" algn="l">
              <a:lnSpc>
                <a:spcPct val="70000"/>
              </a:lnSpc>
              <a:spcBef>
                <a:spcPts val="0"/>
              </a:spcBef>
              <a:spcAft>
                <a:spcPts val="0"/>
              </a:spcAft>
              <a:buNone/>
            </a:pPr>
            <a:r>
              <a:t/>
            </a:r>
            <a:endParaRPr sz="2320"/>
          </a:p>
        </p:txBody>
      </p:sp>
      <p:cxnSp>
        <p:nvCxnSpPr>
          <p:cNvPr id="293" name="Google Shape;293;p2"/>
          <p:cNvCxnSpPr/>
          <p:nvPr/>
        </p:nvCxnSpPr>
        <p:spPr>
          <a:xfrm>
            <a:off x="2053636" y="0"/>
            <a:ext cx="0" cy="6858000"/>
          </a:xfrm>
          <a:prstGeom prst="straightConnector1">
            <a:avLst/>
          </a:prstGeom>
          <a:noFill/>
          <a:ln cap="flat" cmpd="sng" w="76200">
            <a:solidFill>
              <a:schemeClr val="dk1"/>
            </a:solidFill>
            <a:prstDash val="solid"/>
            <a:miter lim="800000"/>
            <a:headEnd len="sm" w="sm" type="none"/>
            <a:tailEnd len="sm" w="sm" type="none"/>
          </a:ln>
        </p:spPr>
      </p:cxnSp>
      <p:cxnSp>
        <p:nvCxnSpPr>
          <p:cNvPr id="294" name="Google Shape;294;p2"/>
          <p:cNvCxnSpPr/>
          <p:nvPr/>
        </p:nvCxnSpPr>
        <p:spPr>
          <a:xfrm>
            <a:off x="0" y="5352153"/>
            <a:ext cx="2054400" cy="5700"/>
          </a:xfrm>
          <a:prstGeom prst="straightConnector1">
            <a:avLst/>
          </a:prstGeom>
          <a:noFill/>
          <a:ln cap="flat" cmpd="sng" w="76200">
            <a:solidFill>
              <a:schemeClr val="dk1"/>
            </a:solidFill>
            <a:prstDash val="solid"/>
            <a:miter lim="800000"/>
            <a:headEnd len="sm" w="sm" type="none"/>
            <a:tailEnd len="sm" w="sm" type="none"/>
          </a:ln>
        </p:spPr>
      </p:cxnSp>
      <p:pic>
        <p:nvPicPr>
          <p:cNvPr id="295" name="Google Shape;295;p2"/>
          <p:cNvPicPr preferRelativeResize="0"/>
          <p:nvPr/>
        </p:nvPicPr>
        <p:blipFill rotWithShape="1">
          <a:blip r:embed="rId3">
            <a:alphaModFix/>
          </a:blip>
          <a:srcRect b="10891" l="0" r="0" t="5820"/>
          <a:stretch/>
        </p:blipFill>
        <p:spPr>
          <a:xfrm>
            <a:off x="162689" y="6218491"/>
            <a:ext cx="1006782" cy="479649"/>
          </a:xfrm>
          <a:prstGeom prst="rect">
            <a:avLst/>
          </a:prstGeom>
          <a:noFill/>
          <a:ln>
            <a:noFill/>
          </a:ln>
        </p:spPr>
      </p:pic>
      <p:pic>
        <p:nvPicPr>
          <p:cNvPr id="296" name="Google Shape;296;p2"/>
          <p:cNvPicPr preferRelativeResize="0"/>
          <p:nvPr/>
        </p:nvPicPr>
        <p:blipFill>
          <a:blip r:embed="rId4">
            <a:alphaModFix/>
          </a:blip>
          <a:stretch>
            <a:fillRect/>
          </a:stretch>
        </p:blipFill>
        <p:spPr>
          <a:xfrm>
            <a:off x="2234750" y="3977850"/>
            <a:ext cx="4739051" cy="2608550"/>
          </a:xfrm>
          <a:prstGeom prst="rect">
            <a:avLst/>
          </a:prstGeom>
          <a:noFill/>
          <a:ln>
            <a:noFill/>
          </a:ln>
        </p:spPr>
      </p:pic>
      <p:pic>
        <p:nvPicPr>
          <p:cNvPr id="297" name="Google Shape;297;p2"/>
          <p:cNvPicPr preferRelativeResize="0"/>
          <p:nvPr/>
        </p:nvPicPr>
        <p:blipFill>
          <a:blip r:embed="rId5">
            <a:alphaModFix/>
          </a:blip>
          <a:stretch>
            <a:fillRect/>
          </a:stretch>
        </p:blipFill>
        <p:spPr>
          <a:xfrm>
            <a:off x="2545812" y="1889050"/>
            <a:ext cx="4116149" cy="1208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
          <p:cNvSpPr txBox="1"/>
          <p:nvPr>
            <p:ph type="title"/>
          </p:nvPr>
        </p:nvSpPr>
        <p:spPr>
          <a:xfrm>
            <a:off x="2963650" y="230825"/>
            <a:ext cx="6441000" cy="933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80"/>
              <a:buFont typeface="Montserrat"/>
              <a:buNone/>
            </a:pPr>
            <a:r>
              <a:rPr lang="en-US" sz="3280"/>
              <a:t>Commit Timeline cont.</a:t>
            </a:r>
            <a:endParaRPr sz="3280"/>
          </a:p>
        </p:txBody>
      </p:sp>
      <p:sp>
        <p:nvSpPr>
          <p:cNvPr id="303" name="Google Shape;303;p5"/>
          <p:cNvSpPr txBox="1"/>
          <p:nvPr>
            <p:ph idx="1" type="body"/>
          </p:nvPr>
        </p:nvSpPr>
        <p:spPr>
          <a:xfrm>
            <a:off x="5928525" y="3026350"/>
            <a:ext cx="6532800" cy="4628400"/>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None/>
            </a:pPr>
            <a:r>
              <a:t/>
            </a:r>
            <a:endParaRPr sz="2320"/>
          </a:p>
          <a:p>
            <a:pPr indent="0" lvl="0" marL="0" rtl="0" algn="l">
              <a:lnSpc>
                <a:spcPct val="70000"/>
              </a:lnSpc>
              <a:spcBef>
                <a:spcPts val="0"/>
              </a:spcBef>
              <a:spcAft>
                <a:spcPts val="0"/>
              </a:spcAft>
              <a:buNone/>
            </a:pPr>
            <a:r>
              <a:t/>
            </a:r>
            <a:endParaRPr sz="2320"/>
          </a:p>
          <a:p>
            <a:pPr indent="0" lvl="0" marL="0" rtl="0" algn="l">
              <a:lnSpc>
                <a:spcPct val="90000"/>
              </a:lnSpc>
              <a:spcBef>
                <a:spcPts val="0"/>
              </a:spcBef>
              <a:spcAft>
                <a:spcPts val="0"/>
              </a:spcAft>
              <a:buNone/>
            </a:pPr>
            <a:r>
              <a:rPr lang="en-US" sz="2320"/>
              <a:t>Django Migration: Apr. 5</a:t>
            </a:r>
            <a:endParaRPr sz="2320"/>
          </a:p>
          <a:p>
            <a:pPr indent="0" lvl="0" marL="0" rtl="0" algn="l">
              <a:lnSpc>
                <a:spcPct val="90000"/>
              </a:lnSpc>
              <a:spcBef>
                <a:spcPts val="0"/>
              </a:spcBef>
              <a:spcAft>
                <a:spcPts val="0"/>
              </a:spcAft>
              <a:buNone/>
            </a:pPr>
            <a:r>
              <a:t/>
            </a:r>
            <a:endParaRPr sz="2320"/>
          </a:p>
          <a:p>
            <a:pPr indent="-375920" lvl="0" marL="457200" rtl="0" algn="l">
              <a:lnSpc>
                <a:spcPct val="90000"/>
              </a:lnSpc>
              <a:spcBef>
                <a:spcPts val="0"/>
              </a:spcBef>
              <a:spcAft>
                <a:spcPts val="0"/>
              </a:spcAft>
              <a:buSzPts val="2320"/>
              <a:buChar char="●"/>
            </a:pPr>
            <a:r>
              <a:rPr lang="en-US" sz="2320"/>
              <a:t>Largest refactor in development from local JSON storage to an SQLite database</a:t>
            </a:r>
            <a:endParaRPr sz="2320"/>
          </a:p>
          <a:p>
            <a:pPr indent="-375920" lvl="0" marL="457200" rtl="0" algn="l">
              <a:lnSpc>
                <a:spcPct val="90000"/>
              </a:lnSpc>
              <a:spcBef>
                <a:spcPts val="0"/>
              </a:spcBef>
              <a:spcAft>
                <a:spcPts val="0"/>
              </a:spcAft>
              <a:buSzPts val="2320"/>
              <a:buChar char="●"/>
            </a:pPr>
            <a:r>
              <a:rPr lang="en-US" sz="2320"/>
              <a:t>Added user authentication, admin interface, full restructure of task management</a:t>
            </a:r>
            <a:endParaRPr sz="2320"/>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t/>
            </a:r>
            <a:endParaRPr/>
          </a:p>
        </p:txBody>
      </p:sp>
      <p:sp>
        <p:nvSpPr>
          <p:cNvPr id="304" name="Google Shape;304;p5"/>
          <p:cNvSpPr/>
          <p:nvPr/>
        </p:nvSpPr>
        <p:spPr>
          <a:xfrm>
            <a:off x="9332070" y="6484"/>
            <a:ext cx="2879386" cy="2316164"/>
          </a:xfrm>
          <a:prstGeom prst="rect">
            <a:avLst/>
          </a:prstGeom>
          <a:solidFill>
            <a:srgbClr val="1184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5" name="Google Shape;305;p5"/>
          <p:cNvSpPr/>
          <p:nvPr/>
        </p:nvSpPr>
        <p:spPr>
          <a:xfrm>
            <a:off x="1160834" y="4817887"/>
            <a:ext cx="1750978" cy="2040114"/>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306" name="Google Shape;306;p5"/>
          <p:cNvCxnSpPr/>
          <p:nvPr/>
        </p:nvCxnSpPr>
        <p:spPr>
          <a:xfrm>
            <a:off x="2924950" y="4112825"/>
            <a:ext cx="12900" cy="2745300"/>
          </a:xfrm>
          <a:prstGeom prst="straightConnector1">
            <a:avLst/>
          </a:prstGeom>
          <a:noFill/>
          <a:ln cap="flat" cmpd="sng" w="76200">
            <a:solidFill>
              <a:schemeClr val="dk1"/>
            </a:solidFill>
            <a:prstDash val="solid"/>
            <a:miter lim="800000"/>
            <a:headEnd len="sm" w="sm" type="none"/>
            <a:tailEnd len="sm" w="sm" type="none"/>
          </a:ln>
        </p:spPr>
      </p:cxnSp>
      <p:cxnSp>
        <p:nvCxnSpPr>
          <p:cNvPr id="307" name="Google Shape;307;p5"/>
          <p:cNvCxnSpPr/>
          <p:nvPr/>
        </p:nvCxnSpPr>
        <p:spPr>
          <a:xfrm flipH="1" rot="10800000">
            <a:off x="0" y="4150468"/>
            <a:ext cx="2937753" cy="6485"/>
          </a:xfrm>
          <a:prstGeom prst="straightConnector1">
            <a:avLst/>
          </a:prstGeom>
          <a:noFill/>
          <a:ln cap="flat" cmpd="sng" w="76200">
            <a:solidFill>
              <a:schemeClr val="dk1"/>
            </a:solidFill>
            <a:prstDash val="solid"/>
            <a:miter lim="800000"/>
            <a:headEnd len="sm" w="sm" type="none"/>
            <a:tailEnd len="sm" w="sm" type="none"/>
          </a:ln>
        </p:spPr>
      </p:cxnSp>
      <p:cxnSp>
        <p:nvCxnSpPr>
          <p:cNvPr id="308" name="Google Shape;308;p5"/>
          <p:cNvCxnSpPr/>
          <p:nvPr/>
        </p:nvCxnSpPr>
        <p:spPr>
          <a:xfrm>
            <a:off x="1160834" y="4163438"/>
            <a:ext cx="0" cy="2694562"/>
          </a:xfrm>
          <a:prstGeom prst="straightConnector1">
            <a:avLst/>
          </a:prstGeom>
          <a:noFill/>
          <a:ln cap="flat" cmpd="sng" w="76200">
            <a:solidFill>
              <a:schemeClr val="dk1"/>
            </a:solidFill>
            <a:prstDash val="solid"/>
            <a:miter lim="800000"/>
            <a:headEnd len="sm" w="sm" type="none"/>
            <a:tailEnd len="sm" w="sm" type="none"/>
          </a:ln>
        </p:spPr>
      </p:cxnSp>
      <p:cxnSp>
        <p:nvCxnSpPr>
          <p:cNvPr id="309" name="Google Shape;309;p5"/>
          <p:cNvCxnSpPr/>
          <p:nvPr/>
        </p:nvCxnSpPr>
        <p:spPr>
          <a:xfrm>
            <a:off x="1160834" y="4811400"/>
            <a:ext cx="1776919" cy="0"/>
          </a:xfrm>
          <a:prstGeom prst="straightConnector1">
            <a:avLst/>
          </a:prstGeom>
          <a:noFill/>
          <a:ln cap="flat" cmpd="sng" w="76200">
            <a:solidFill>
              <a:schemeClr val="dk1"/>
            </a:solidFill>
            <a:prstDash val="solid"/>
            <a:miter lim="800000"/>
            <a:headEnd len="sm" w="sm" type="none"/>
            <a:tailEnd len="sm" w="sm" type="none"/>
          </a:ln>
        </p:spPr>
      </p:cxnSp>
      <p:cxnSp>
        <p:nvCxnSpPr>
          <p:cNvPr id="310" name="Google Shape;310;p5"/>
          <p:cNvCxnSpPr/>
          <p:nvPr/>
        </p:nvCxnSpPr>
        <p:spPr>
          <a:xfrm flipH="1">
            <a:off x="9299643" y="2316163"/>
            <a:ext cx="2924784" cy="6485"/>
          </a:xfrm>
          <a:prstGeom prst="straightConnector1">
            <a:avLst/>
          </a:prstGeom>
          <a:noFill/>
          <a:ln cap="flat" cmpd="sng" w="76200">
            <a:solidFill>
              <a:schemeClr val="dk1"/>
            </a:solidFill>
            <a:prstDash val="solid"/>
            <a:miter lim="800000"/>
            <a:headEnd len="sm" w="sm" type="none"/>
            <a:tailEnd len="sm" w="sm" type="none"/>
          </a:ln>
        </p:spPr>
      </p:cxnSp>
      <p:cxnSp>
        <p:nvCxnSpPr>
          <p:cNvPr id="311" name="Google Shape;311;p5"/>
          <p:cNvCxnSpPr/>
          <p:nvPr/>
        </p:nvCxnSpPr>
        <p:spPr>
          <a:xfrm>
            <a:off x="9299643" y="0"/>
            <a:ext cx="18300" cy="2360700"/>
          </a:xfrm>
          <a:prstGeom prst="straightConnector1">
            <a:avLst/>
          </a:prstGeom>
          <a:noFill/>
          <a:ln cap="flat" cmpd="sng" w="76200">
            <a:solidFill>
              <a:schemeClr val="dk1"/>
            </a:solidFill>
            <a:prstDash val="solid"/>
            <a:miter lim="800000"/>
            <a:headEnd len="sm" w="sm" type="none"/>
            <a:tailEnd len="sm" w="sm" type="none"/>
          </a:ln>
        </p:spPr>
      </p:cxnSp>
      <p:cxnSp>
        <p:nvCxnSpPr>
          <p:cNvPr id="312" name="Google Shape;312;p5"/>
          <p:cNvCxnSpPr/>
          <p:nvPr/>
        </p:nvCxnSpPr>
        <p:spPr>
          <a:xfrm flipH="1">
            <a:off x="2963650" y="6170550"/>
            <a:ext cx="9253200" cy="6300"/>
          </a:xfrm>
          <a:prstGeom prst="straightConnector1">
            <a:avLst/>
          </a:prstGeom>
          <a:noFill/>
          <a:ln cap="flat" cmpd="sng" w="76200">
            <a:solidFill>
              <a:schemeClr val="dk1"/>
            </a:solidFill>
            <a:prstDash val="solid"/>
            <a:miter lim="800000"/>
            <a:headEnd len="sm" w="sm" type="none"/>
            <a:tailEnd len="sm" w="sm" type="none"/>
          </a:ln>
        </p:spPr>
      </p:cxnSp>
      <p:pic>
        <p:nvPicPr>
          <p:cNvPr id="313" name="Google Shape;313;p5"/>
          <p:cNvPicPr preferRelativeResize="0"/>
          <p:nvPr/>
        </p:nvPicPr>
        <p:blipFill rotWithShape="1">
          <a:blip r:embed="rId3">
            <a:alphaModFix/>
          </a:blip>
          <a:srcRect b="-5423" l="0" r="0" t="5820"/>
          <a:stretch/>
        </p:blipFill>
        <p:spPr>
          <a:xfrm>
            <a:off x="10939135" y="6284405"/>
            <a:ext cx="1006782" cy="573595"/>
          </a:xfrm>
          <a:prstGeom prst="rect">
            <a:avLst/>
          </a:prstGeom>
          <a:noFill/>
          <a:ln>
            <a:noFill/>
          </a:ln>
        </p:spPr>
      </p:pic>
      <p:pic>
        <p:nvPicPr>
          <p:cNvPr id="314" name="Google Shape;314;p5"/>
          <p:cNvPicPr preferRelativeResize="0"/>
          <p:nvPr/>
        </p:nvPicPr>
        <p:blipFill>
          <a:blip r:embed="rId4">
            <a:alphaModFix/>
          </a:blip>
          <a:stretch>
            <a:fillRect/>
          </a:stretch>
        </p:blipFill>
        <p:spPr>
          <a:xfrm>
            <a:off x="1160825" y="4382537"/>
            <a:ext cx="4404721" cy="1569662"/>
          </a:xfrm>
          <a:prstGeom prst="rect">
            <a:avLst/>
          </a:prstGeom>
          <a:noFill/>
          <a:ln>
            <a:noFill/>
          </a:ln>
        </p:spPr>
      </p:pic>
      <p:sp>
        <p:nvSpPr>
          <p:cNvPr id="315" name="Google Shape;315;p5"/>
          <p:cNvSpPr txBox="1"/>
          <p:nvPr/>
        </p:nvSpPr>
        <p:spPr>
          <a:xfrm>
            <a:off x="-6200" y="959363"/>
            <a:ext cx="5875200" cy="2720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t/>
            </a:r>
            <a:endParaRPr sz="2320">
              <a:solidFill>
                <a:schemeClr val="dk1"/>
              </a:solidFill>
              <a:latin typeface="Montserrat Medium"/>
              <a:ea typeface="Montserrat Medium"/>
              <a:cs typeface="Montserrat Medium"/>
              <a:sym typeface="Montserrat Medium"/>
            </a:endParaRPr>
          </a:p>
          <a:p>
            <a:pPr indent="0" lvl="0" marL="0" rtl="0" algn="l">
              <a:lnSpc>
                <a:spcPct val="90000"/>
              </a:lnSpc>
              <a:spcBef>
                <a:spcPts val="0"/>
              </a:spcBef>
              <a:spcAft>
                <a:spcPts val="0"/>
              </a:spcAft>
              <a:buNone/>
            </a:pPr>
            <a:r>
              <a:rPr lang="en-US" sz="2320">
                <a:solidFill>
                  <a:schemeClr val="dk1"/>
                </a:solidFill>
                <a:latin typeface="Montserrat Medium"/>
                <a:ea typeface="Montserrat Medium"/>
                <a:cs typeface="Montserrat Medium"/>
                <a:sym typeface="Montserrat Medium"/>
              </a:rPr>
              <a:t>Full Test Suite: Apr 3</a:t>
            </a:r>
            <a:endParaRPr sz="2320">
              <a:solidFill>
                <a:schemeClr val="dk1"/>
              </a:solidFill>
              <a:latin typeface="Montserrat Medium"/>
              <a:ea typeface="Montserrat Medium"/>
              <a:cs typeface="Montserrat Medium"/>
              <a:sym typeface="Montserrat Medium"/>
            </a:endParaRPr>
          </a:p>
          <a:p>
            <a:pPr indent="0" lvl="0" marL="0" rtl="0" algn="l">
              <a:lnSpc>
                <a:spcPct val="90000"/>
              </a:lnSpc>
              <a:spcBef>
                <a:spcPts val="0"/>
              </a:spcBef>
              <a:spcAft>
                <a:spcPts val="0"/>
              </a:spcAft>
              <a:buNone/>
            </a:pPr>
            <a:r>
              <a:t/>
            </a:r>
            <a:endParaRPr sz="2320">
              <a:solidFill>
                <a:schemeClr val="dk1"/>
              </a:solidFill>
              <a:latin typeface="Montserrat Medium"/>
              <a:ea typeface="Montserrat Medium"/>
              <a:cs typeface="Montserrat Medium"/>
              <a:sym typeface="Montserrat Medium"/>
            </a:endParaRPr>
          </a:p>
          <a:p>
            <a:pPr indent="-375920" lvl="0" marL="457200" rtl="0" algn="l">
              <a:lnSpc>
                <a:spcPct val="90000"/>
              </a:lnSpc>
              <a:spcBef>
                <a:spcPts val="0"/>
              </a:spcBef>
              <a:spcAft>
                <a:spcPts val="0"/>
              </a:spcAft>
              <a:buClr>
                <a:schemeClr val="dk1"/>
              </a:buClr>
              <a:buSzPts val="2320"/>
              <a:buFont typeface="Montserrat Medium"/>
              <a:buChar char="●"/>
            </a:pPr>
            <a:r>
              <a:rPr lang="en-US" sz="2320">
                <a:solidFill>
                  <a:schemeClr val="dk1"/>
                </a:solidFill>
                <a:latin typeface="Montserrat Medium"/>
                <a:ea typeface="Montserrat Medium"/>
                <a:cs typeface="Montserrat Medium"/>
                <a:sym typeface="Montserrat Medium"/>
              </a:rPr>
              <a:t>Advanced features and functions need to be tested for complete functionality and validation</a:t>
            </a:r>
            <a:endParaRPr sz="2320">
              <a:solidFill>
                <a:schemeClr val="dk1"/>
              </a:solidFill>
              <a:latin typeface="Montserrat Medium"/>
              <a:ea typeface="Montserrat Medium"/>
              <a:cs typeface="Montserrat Medium"/>
              <a:sym typeface="Montserrat Medium"/>
            </a:endParaRPr>
          </a:p>
          <a:p>
            <a:pPr indent="-375920" lvl="0" marL="457200" rtl="0" algn="l">
              <a:lnSpc>
                <a:spcPct val="90000"/>
              </a:lnSpc>
              <a:spcBef>
                <a:spcPts val="0"/>
              </a:spcBef>
              <a:spcAft>
                <a:spcPts val="0"/>
              </a:spcAft>
              <a:buClr>
                <a:schemeClr val="dk1"/>
              </a:buClr>
              <a:buSzPts val="2320"/>
              <a:buFont typeface="Montserrat Medium"/>
              <a:buChar char="●"/>
            </a:pPr>
            <a:r>
              <a:rPr lang="en-US" sz="2320">
                <a:solidFill>
                  <a:schemeClr val="dk1"/>
                </a:solidFill>
                <a:latin typeface="Montserrat Medium"/>
                <a:ea typeface="Montserrat Medium"/>
                <a:cs typeface="Montserrat Medium"/>
                <a:sym typeface="Montserrat Medium"/>
              </a:rPr>
              <a:t>Application is now fully prepared for complete Django Migration</a:t>
            </a:r>
            <a:endParaRPr sz="2320">
              <a:solidFill>
                <a:schemeClr val="dk1"/>
              </a:solidFill>
              <a:latin typeface="Montserrat Medium"/>
              <a:ea typeface="Montserrat Medium"/>
              <a:cs typeface="Montserrat Medium"/>
              <a:sym typeface="Montserrat Medium"/>
            </a:endParaRPr>
          </a:p>
        </p:txBody>
      </p:sp>
      <p:pic>
        <p:nvPicPr>
          <p:cNvPr id="316" name="Google Shape;316;p5"/>
          <p:cNvPicPr preferRelativeResize="0"/>
          <p:nvPr/>
        </p:nvPicPr>
        <p:blipFill>
          <a:blip r:embed="rId5">
            <a:alphaModFix/>
          </a:blip>
          <a:stretch>
            <a:fillRect/>
          </a:stretch>
        </p:blipFill>
        <p:spPr>
          <a:xfrm>
            <a:off x="6047424" y="1268974"/>
            <a:ext cx="4984876" cy="2100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5"/>
          <p:cNvSpPr txBox="1"/>
          <p:nvPr>
            <p:ph type="title"/>
          </p:nvPr>
        </p:nvSpPr>
        <p:spPr>
          <a:xfrm>
            <a:off x="588723" y="365125"/>
            <a:ext cx="760329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Montserrat"/>
              <a:buNone/>
            </a:pPr>
            <a:r>
              <a:rPr lang="en-US" sz="3900"/>
              <a:t>Future Enhancements</a:t>
            </a:r>
            <a:endParaRPr sz="3900"/>
          </a:p>
        </p:txBody>
      </p:sp>
      <p:sp>
        <p:nvSpPr>
          <p:cNvPr id="322" name="Google Shape;322;p15"/>
          <p:cNvSpPr txBox="1"/>
          <p:nvPr>
            <p:ph idx="1" type="body"/>
          </p:nvPr>
        </p:nvSpPr>
        <p:spPr>
          <a:xfrm>
            <a:off x="588775" y="1690700"/>
            <a:ext cx="7603200" cy="46656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Char char="•"/>
            </a:pPr>
            <a:r>
              <a:rPr b="1" lang="en-US">
                <a:latin typeface="Montserrat"/>
                <a:ea typeface="Montserrat"/>
                <a:cs typeface="Montserrat"/>
                <a:sym typeface="Montserrat"/>
              </a:rPr>
              <a:t>Subtasks: </a:t>
            </a:r>
            <a:r>
              <a:rPr lang="en-US"/>
              <a:t>Breaking down larger complex items into trackable sub-items.</a:t>
            </a:r>
            <a:endParaRPr/>
          </a:p>
          <a:p>
            <a:pPr indent="-342900" lvl="0" marL="457200" rtl="0" algn="l">
              <a:lnSpc>
                <a:spcPct val="100000"/>
              </a:lnSpc>
              <a:spcBef>
                <a:spcPts val="0"/>
              </a:spcBef>
              <a:spcAft>
                <a:spcPts val="0"/>
              </a:spcAft>
              <a:buSzPts val="1800"/>
              <a:buChar char="•"/>
            </a:pPr>
            <a:r>
              <a:rPr b="1" lang="en-US">
                <a:latin typeface="Montserrat"/>
                <a:ea typeface="Montserrat"/>
                <a:cs typeface="Montserrat"/>
                <a:sym typeface="Montserrat"/>
              </a:rPr>
              <a:t>Rich Attachments: </a:t>
            </a:r>
            <a:r>
              <a:rPr lang="en-US"/>
              <a:t>File upload and link handling for quick user references.</a:t>
            </a:r>
            <a:endParaRPr/>
          </a:p>
          <a:p>
            <a:pPr indent="-342900" lvl="0" marL="457200" rtl="0" algn="l">
              <a:lnSpc>
                <a:spcPct val="100000"/>
              </a:lnSpc>
              <a:spcBef>
                <a:spcPts val="0"/>
              </a:spcBef>
              <a:spcAft>
                <a:spcPts val="0"/>
              </a:spcAft>
              <a:buSzPts val="1800"/>
              <a:buChar char="•"/>
            </a:pPr>
            <a:r>
              <a:rPr b="1" lang="en-US">
                <a:latin typeface="Montserrat"/>
                <a:ea typeface="Montserrat"/>
                <a:cs typeface="Montserrat"/>
                <a:sym typeface="Montserrat"/>
              </a:rPr>
              <a:t>Interactive Calendar: </a:t>
            </a:r>
            <a:r>
              <a:rPr lang="en-US"/>
              <a:t>Due date focused view for a visual </a:t>
            </a:r>
            <a:r>
              <a:rPr lang="en-US"/>
              <a:t>representation</a:t>
            </a:r>
            <a:r>
              <a:rPr lang="en-US"/>
              <a:t> of a timeline.</a:t>
            </a:r>
            <a:endParaRPr/>
          </a:p>
          <a:p>
            <a:pPr indent="-342900" lvl="0" marL="457200" rtl="0" algn="l">
              <a:lnSpc>
                <a:spcPct val="100000"/>
              </a:lnSpc>
              <a:spcBef>
                <a:spcPts val="0"/>
              </a:spcBef>
              <a:spcAft>
                <a:spcPts val="0"/>
              </a:spcAft>
              <a:buSzPts val="1800"/>
              <a:buChar char="•"/>
            </a:pPr>
            <a:r>
              <a:rPr b="1" lang="en-US">
                <a:latin typeface="Montserrat"/>
                <a:ea typeface="Montserrat"/>
                <a:cs typeface="Montserrat"/>
                <a:sym typeface="Montserrat"/>
              </a:rPr>
              <a:t>Bulk Operations: </a:t>
            </a:r>
            <a:r>
              <a:rPr lang="en-US"/>
              <a:t>Mass delete/update priority function to reduce clicks.</a:t>
            </a:r>
            <a:endParaRPr/>
          </a:p>
          <a:p>
            <a:pPr indent="-342900" lvl="0" marL="457200" rtl="0" algn="l">
              <a:lnSpc>
                <a:spcPct val="100000"/>
              </a:lnSpc>
              <a:spcBef>
                <a:spcPts val="0"/>
              </a:spcBef>
              <a:spcAft>
                <a:spcPts val="0"/>
              </a:spcAft>
              <a:buSzPts val="1800"/>
              <a:buChar char="•"/>
            </a:pPr>
            <a:r>
              <a:rPr b="1" lang="en-US">
                <a:latin typeface="Montserrat"/>
                <a:ea typeface="Montserrat"/>
                <a:cs typeface="Montserrat"/>
                <a:sym typeface="Montserrat"/>
              </a:rPr>
              <a:t>Team Workspaces: </a:t>
            </a:r>
            <a:r>
              <a:rPr lang="en-US"/>
              <a:t>Functionality to include task assignment to online group members.</a:t>
            </a:r>
            <a:endParaRPr/>
          </a:p>
          <a:p>
            <a:pPr indent="-342900" lvl="0" marL="457200" rtl="0" algn="l">
              <a:lnSpc>
                <a:spcPct val="100000"/>
              </a:lnSpc>
              <a:spcBef>
                <a:spcPts val="0"/>
              </a:spcBef>
              <a:spcAft>
                <a:spcPts val="0"/>
              </a:spcAft>
              <a:buSzPts val="1800"/>
              <a:buChar char="•"/>
            </a:pPr>
            <a:r>
              <a:rPr b="1" lang="en-US">
                <a:latin typeface="Montserrat"/>
                <a:ea typeface="Montserrat"/>
                <a:cs typeface="Montserrat"/>
                <a:sym typeface="Montserrat"/>
              </a:rPr>
              <a:t>Expanded Data Portability: </a:t>
            </a:r>
            <a:r>
              <a:rPr lang="en-US"/>
              <a:t>Import/exports for data migration, team sharing, backups.</a:t>
            </a:r>
            <a:endParaRPr/>
          </a:p>
        </p:txBody>
      </p:sp>
      <p:sp>
        <p:nvSpPr>
          <p:cNvPr id="323" name="Google Shape;323;p15"/>
          <p:cNvSpPr/>
          <p:nvPr/>
        </p:nvSpPr>
        <p:spPr>
          <a:xfrm>
            <a:off x="9332220" y="2675090"/>
            <a:ext cx="2867754" cy="4189387"/>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4" name="Google Shape;324;p15"/>
          <p:cNvSpPr/>
          <p:nvPr/>
        </p:nvSpPr>
        <p:spPr>
          <a:xfrm>
            <a:off x="8690604" y="0"/>
            <a:ext cx="590140" cy="418291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5" name="Google Shape;325;p15"/>
          <p:cNvSpPr/>
          <p:nvPr/>
        </p:nvSpPr>
        <p:spPr>
          <a:xfrm>
            <a:off x="8672514" y="5274899"/>
            <a:ext cx="590139" cy="1600200"/>
          </a:xfrm>
          <a:prstGeom prst="rect">
            <a:avLst/>
          </a:prstGeom>
          <a:solidFill>
            <a:srgbClr val="1184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326" name="Google Shape;326;p15"/>
          <p:cNvCxnSpPr/>
          <p:nvPr/>
        </p:nvCxnSpPr>
        <p:spPr>
          <a:xfrm>
            <a:off x="8668304" y="-19115"/>
            <a:ext cx="0" cy="6883600"/>
          </a:xfrm>
          <a:prstGeom prst="straightConnector1">
            <a:avLst/>
          </a:prstGeom>
          <a:noFill/>
          <a:ln cap="flat" cmpd="sng" w="76200">
            <a:solidFill>
              <a:schemeClr val="dk1"/>
            </a:solidFill>
            <a:prstDash val="solid"/>
            <a:miter lim="800000"/>
            <a:headEnd len="sm" w="sm" type="none"/>
            <a:tailEnd len="sm" w="sm" type="none"/>
          </a:ln>
        </p:spPr>
      </p:cxnSp>
      <p:cxnSp>
        <p:nvCxnSpPr>
          <p:cNvPr id="327" name="Google Shape;327;p15"/>
          <p:cNvCxnSpPr/>
          <p:nvPr/>
        </p:nvCxnSpPr>
        <p:spPr>
          <a:xfrm>
            <a:off x="9297145" y="-19471"/>
            <a:ext cx="0" cy="6883956"/>
          </a:xfrm>
          <a:prstGeom prst="straightConnector1">
            <a:avLst/>
          </a:prstGeom>
          <a:noFill/>
          <a:ln cap="flat" cmpd="sng" w="76200">
            <a:solidFill>
              <a:schemeClr val="dk1"/>
            </a:solidFill>
            <a:prstDash val="solid"/>
            <a:miter lim="800000"/>
            <a:headEnd len="sm" w="sm" type="none"/>
            <a:tailEnd len="sm" w="sm" type="none"/>
          </a:ln>
        </p:spPr>
      </p:cxnSp>
      <p:cxnSp>
        <p:nvCxnSpPr>
          <p:cNvPr id="328" name="Google Shape;328;p15"/>
          <p:cNvCxnSpPr/>
          <p:nvPr/>
        </p:nvCxnSpPr>
        <p:spPr>
          <a:xfrm>
            <a:off x="9301133" y="2675091"/>
            <a:ext cx="2894855" cy="0"/>
          </a:xfrm>
          <a:prstGeom prst="straightConnector1">
            <a:avLst/>
          </a:prstGeom>
          <a:noFill/>
          <a:ln cap="flat" cmpd="sng" w="76200">
            <a:solidFill>
              <a:schemeClr val="dk1"/>
            </a:solidFill>
            <a:prstDash val="solid"/>
            <a:miter lim="800000"/>
            <a:headEnd len="sm" w="sm" type="none"/>
            <a:tailEnd len="sm" w="sm" type="none"/>
          </a:ln>
        </p:spPr>
      </p:cxnSp>
      <p:cxnSp>
        <p:nvCxnSpPr>
          <p:cNvPr id="329" name="Google Shape;329;p15"/>
          <p:cNvCxnSpPr/>
          <p:nvPr/>
        </p:nvCxnSpPr>
        <p:spPr>
          <a:xfrm>
            <a:off x="8707002" y="4174053"/>
            <a:ext cx="590143" cy="0"/>
          </a:xfrm>
          <a:prstGeom prst="straightConnector1">
            <a:avLst/>
          </a:prstGeom>
          <a:noFill/>
          <a:ln cap="flat" cmpd="sng" w="76200">
            <a:solidFill>
              <a:schemeClr val="dk1"/>
            </a:solidFill>
            <a:prstDash val="solid"/>
            <a:miter lim="800000"/>
            <a:headEnd len="sm" w="sm" type="none"/>
            <a:tailEnd len="sm" w="sm" type="none"/>
          </a:ln>
        </p:spPr>
      </p:cxnSp>
      <p:cxnSp>
        <p:nvCxnSpPr>
          <p:cNvPr id="330" name="Google Shape;330;p15"/>
          <p:cNvCxnSpPr/>
          <p:nvPr/>
        </p:nvCxnSpPr>
        <p:spPr>
          <a:xfrm>
            <a:off x="8707002" y="5257800"/>
            <a:ext cx="590139" cy="0"/>
          </a:xfrm>
          <a:prstGeom prst="straightConnector1">
            <a:avLst/>
          </a:prstGeom>
          <a:noFill/>
          <a:ln cap="flat" cmpd="sng" w="76200">
            <a:solidFill>
              <a:schemeClr val="dk1"/>
            </a:solidFill>
            <a:prstDash val="solid"/>
            <a:miter lim="800000"/>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
          <p:cNvSpPr/>
          <p:nvPr/>
        </p:nvSpPr>
        <p:spPr>
          <a:xfrm>
            <a:off x="2927183" y="6186598"/>
            <a:ext cx="9264817" cy="671401"/>
          </a:xfrm>
          <a:prstGeom prst="rect">
            <a:avLst/>
          </a:prstGeom>
          <a:solidFill>
            <a:srgbClr val="70B6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6" name="Google Shape;336;p4"/>
          <p:cNvSpPr/>
          <p:nvPr/>
        </p:nvSpPr>
        <p:spPr>
          <a:xfrm>
            <a:off x="1311983" y="0"/>
            <a:ext cx="10880017" cy="6186526"/>
          </a:xfrm>
          <a:prstGeom prst="rect">
            <a:avLst/>
          </a:prstGeom>
          <a:solidFill>
            <a:srgbClr val="1184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337" name="Google Shape;337;p4"/>
          <p:cNvPicPr preferRelativeResize="0"/>
          <p:nvPr/>
        </p:nvPicPr>
        <p:blipFill rotWithShape="1">
          <a:blip r:embed="rId3">
            <a:alphaModFix/>
          </a:blip>
          <a:srcRect b="10642" l="14937" r="66106" t="0"/>
          <a:stretch/>
        </p:blipFill>
        <p:spPr>
          <a:xfrm>
            <a:off x="0" y="-44"/>
            <a:ext cx="1311969" cy="6186026"/>
          </a:xfrm>
          <a:prstGeom prst="rect">
            <a:avLst/>
          </a:prstGeom>
          <a:noFill/>
          <a:ln>
            <a:noFill/>
          </a:ln>
        </p:spPr>
      </p:pic>
      <p:sp>
        <p:nvSpPr>
          <p:cNvPr id="338" name="Google Shape;338;p4"/>
          <p:cNvSpPr txBox="1"/>
          <p:nvPr>
            <p:ph type="ctrTitle"/>
          </p:nvPr>
        </p:nvSpPr>
        <p:spPr>
          <a:xfrm>
            <a:off x="1815345" y="4284716"/>
            <a:ext cx="9064671" cy="9731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Montserrat"/>
              <a:buNone/>
            </a:pPr>
            <a:r>
              <a:rPr lang="en-US">
                <a:solidFill>
                  <a:schemeClr val="lt1"/>
                </a:solidFill>
              </a:rPr>
              <a:t>Thank you!</a:t>
            </a:r>
            <a:endParaRPr/>
          </a:p>
        </p:txBody>
      </p:sp>
      <p:cxnSp>
        <p:nvCxnSpPr>
          <p:cNvPr id="339" name="Google Shape;339;p4"/>
          <p:cNvCxnSpPr/>
          <p:nvPr/>
        </p:nvCxnSpPr>
        <p:spPr>
          <a:xfrm>
            <a:off x="1311983" y="0"/>
            <a:ext cx="0" cy="6185982"/>
          </a:xfrm>
          <a:prstGeom prst="straightConnector1">
            <a:avLst/>
          </a:prstGeom>
          <a:noFill/>
          <a:ln cap="flat" cmpd="sng" w="76200">
            <a:solidFill>
              <a:schemeClr val="dk1"/>
            </a:solidFill>
            <a:prstDash val="solid"/>
            <a:miter lim="800000"/>
            <a:headEnd len="sm" w="sm" type="none"/>
            <a:tailEnd len="sm" w="sm" type="none"/>
          </a:ln>
        </p:spPr>
      </p:cxnSp>
      <p:cxnSp>
        <p:nvCxnSpPr>
          <p:cNvPr id="340" name="Google Shape;340;p4"/>
          <p:cNvCxnSpPr/>
          <p:nvPr/>
        </p:nvCxnSpPr>
        <p:spPr>
          <a:xfrm>
            <a:off x="0" y="6186600"/>
            <a:ext cx="12192000" cy="0"/>
          </a:xfrm>
          <a:prstGeom prst="straightConnector1">
            <a:avLst/>
          </a:prstGeom>
          <a:noFill/>
          <a:ln cap="flat" cmpd="sng" w="76200">
            <a:solidFill>
              <a:schemeClr val="dk1"/>
            </a:solidFill>
            <a:prstDash val="solid"/>
            <a:miter lim="800000"/>
            <a:headEnd len="sm" w="sm" type="none"/>
            <a:tailEnd len="sm" w="sm" type="none"/>
          </a:ln>
        </p:spPr>
      </p:cxnSp>
      <p:cxnSp>
        <p:nvCxnSpPr>
          <p:cNvPr id="341" name="Google Shape;341;p4"/>
          <p:cNvCxnSpPr/>
          <p:nvPr/>
        </p:nvCxnSpPr>
        <p:spPr>
          <a:xfrm>
            <a:off x="2927183" y="6186598"/>
            <a:ext cx="0" cy="671401"/>
          </a:xfrm>
          <a:prstGeom prst="straightConnector1">
            <a:avLst/>
          </a:prstGeom>
          <a:noFill/>
          <a:ln cap="flat" cmpd="sng" w="76200">
            <a:solidFill>
              <a:schemeClr val="dk1"/>
            </a:solidFill>
            <a:prstDash val="solid"/>
            <a:miter lim="800000"/>
            <a:headEnd len="sm" w="sm" type="none"/>
            <a:tailEnd len="sm" w="sm" type="none"/>
          </a:ln>
        </p:spPr>
      </p:cxnSp>
      <p:pic>
        <p:nvPicPr>
          <p:cNvPr id="342" name="Google Shape;342;p4"/>
          <p:cNvPicPr preferRelativeResize="0"/>
          <p:nvPr/>
        </p:nvPicPr>
        <p:blipFill rotWithShape="1">
          <a:blip r:embed="rId4">
            <a:alphaModFix/>
          </a:blip>
          <a:srcRect b="10891" l="0" r="0" t="5820"/>
          <a:stretch/>
        </p:blipFill>
        <p:spPr>
          <a:xfrm>
            <a:off x="808578" y="6282473"/>
            <a:ext cx="1006782" cy="4796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2021-05-13T18:56:28Z</dcterms:created>
  <dc:creator>Shari Warnick</dc:creator>
</cp:coreProperties>
</file>